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8bc69062-03fc-0703-a84b-98bc40713b38}">
          <p14:sldIdLst>
            <p14:sldId id="256"/>
            <p14:sldId id="257"/>
          </p14:sldIdLst>
        </p14:section>
        <p14:section name="Pruebas de UX" id="{04a525e2-ac8e-9478-9e95-d1fbfb6adc4c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Seguridad" id="{7d62e706-16e6-c0e1-44ec-7901f09f88e4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Cierre" id="{fdb07331-c8a6-9f46-e4cb-10b6d245789a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8274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82744"/>
                </a:solidFill>
                <a:latin typeface="+mn-lt"/>
              </a:rPr>
              <a:t>Tiempo de espera (segundos)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Segundos</c:v>
                </c:pt>
              </c:strCache>
            </c:strRef>
          </c:tx>
          <c:spPr>
            <a:solidFill>
              <a:srgbClr val="2E6F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Entrevista 39 s · modelo listo</c:v>
                  </c:pt>
                  <c:pt idx="1">
                    <c:v>Entrevista 39 s · primera vez</c:v>
                  </c:pt>
                  <c:pt idx="2">
                    <c:v>Análisis de 6 CVs</c:v>
                  </c:pt>
                  <c:pt idx="3">
                    <c:v>Primera vez con descarga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30</c:v>
                </c:pt>
                <c:pt idx="2">
                  <c:v>18.8</c:v>
                </c:pt>
                <c:pt idx="3">
                  <c:v>90.5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2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8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8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8274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82744"/>
                </a:solidFill>
                <a:latin typeface="+mn-lt"/>
              </a:rPr>
              <a:t>Elementos bajo WCAG AA por pantalla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Elementos con bajo contraste</c:v>
                </c:pt>
              </c:strCache>
            </c:strRef>
          </c:tx>
          <c:spPr>
            <a:solidFill>
              <a:srgbClr val="C77D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2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Bienvenida</c:v>
                  </c:pt>
                  <c:pt idx="1">
                    <c:v>Convocatorias</c:v>
                  </c:pt>
                  <c:pt idx="2">
                    <c:v>Parte 1 · CV</c:v>
                  </c:pt>
                  <c:pt idx="3">
                    <c:v>Parte 2 · Entrevista</c:v>
                  </c:pt>
                  <c:pt idx="4">
                    <c:v>Parte 3 · Resultado</c:v>
                  </c:pt>
                  <c:pt idx="5">
                    <c:v>Integraciones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7</c:v>
                </c:pt>
                <c:pt idx="2">
                  <c:v>17</c:v>
                </c:pt>
                <c:pt idx="3">
                  <c:v>20</c:v>
                </c:pt>
                <c:pt idx="4">
                  <c:v>15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2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8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8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8274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82744"/>
                </a:solidFill>
                <a:latin typeface="+mn-lt"/>
              </a:rPr>
              <a:t>10 dependencias vulnerables (npm audit)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npm audit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42318"/>
              </a:solidFill>
              <a:effectLst/>
            </c:spPr>
          </c:dPt>
          <c:dPt>
            <c:idx val="1"/>
            <c:bubble3D val="0"/>
            <c:spPr>
              <a:solidFill>
                <a:srgbClr val="C77D12"/>
              </a:solidFill>
              <a:effectLst/>
            </c:spPr>
          </c:dPt>
          <c:dPt>
            <c:idx val="2"/>
            <c:bubble3D val="0"/>
            <c:spPr>
              <a:solidFill>
                <a:srgbClr val="2F5F8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Críticas</c:v>
                </c:pt>
                <c:pt idx="1">
                  <c:v>Altas</c:v>
                </c:pt>
                <c:pt idx="2">
                  <c:v>Moderadas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</c:v>
                </c:pt>
                <c:pt idx="1">
                  <c:v>3</c:v>
                </c:pt>
                <c:pt idx="2">
                  <c:v>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B58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los resultados de dos frentes: la experiencia de uso del piloto web que ya funciona, y la seguridad de la arquitectura objetivo con la que la plataforma operaría en producción.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69494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69494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7772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7772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3628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C:\Users\aaron\Documents\PROYECTO GTH\Palomar_Talent\public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127" y="384048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0000"/>
                  </a:schemeClr>
                </a:solidFill>
              </a:rPr>
              <a:t>Palomar Talent · Pruebas de UX y seguridad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Pruebas de UX y seguridad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Piloto web de Palomar Talent y arquitectura objetivo de la plataforma · Curso Proyecto StartUP · Octubre 2026</a:t>
            </a:r>
            <a:endParaRPr lang="en-US" sz="1800" dirty="0"/>
          </a:p>
        </p:txBody>
      </p:sp>
      <p:pic>
        <p:nvPicPr>
          <p:cNvPr id="4" name="logo Palomar Talent" descr="C:\Users\aaron\Documents\PROYECTO GTH\Palomar_Talent\public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25880"/>
            <a:ext cx="35661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Resumen ejecutivo</a:t>
            </a:r>
            <a:endParaRPr lang="en-US" sz="3000" dirty="0"/>
          </a:p>
        </p:txBody>
      </p:sp>
      <p:sp>
        <p:nvSpPr>
          <p:cNvPr id="3" name="tarjeta resumen 1"/>
          <p:cNvSpPr/>
          <p:nvPr/>
        </p:nvSpPr>
        <p:spPr>
          <a:xfrm>
            <a:off x="548640" y="1463040"/>
            <a:ext cx="3474720" cy="35661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82744">
                <a:alpha val="12000"/>
              </a:srgbClr>
            </a:outerShdw>
          </a:effectLst>
        </p:spPr>
      </p:sp>
      <p:sp>
        <p:nvSpPr>
          <p:cNvPr id="4" name="cifra 1"/>
          <p:cNvSpPr txBox="1"/>
          <p:nvPr/>
        </p:nvSpPr>
        <p:spPr>
          <a:xfrm>
            <a:off x="868680" y="17830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6000" dirty="0"/>
          </a:p>
        </p:txBody>
      </p:sp>
      <p:sp>
        <p:nvSpPr>
          <p:cNvPr id="5" name="etiqueta 1"/>
          <p:cNvSpPr txBox="1"/>
          <p:nvPr/>
        </p:nvSpPr>
        <p:spPr>
          <a:xfrm>
            <a:off x="86868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tareas clave completadas</a:t>
            </a:r>
            <a:endParaRPr lang="en-US" sz="1800" dirty="0"/>
          </a:p>
        </p:txBody>
      </p:sp>
      <p:sp>
        <p:nvSpPr>
          <p:cNvPr id="6" name="detalle 1"/>
          <p:cNvSpPr txBox="1"/>
          <p:nvPr/>
        </p:nvSpPr>
        <p:spPr>
          <a:xfrm>
            <a:off x="868680" y="35204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Entrar, analizar CVs, entrevistar, decidir, exportar e integrar portales: sin errores ni bloqueos.</a:t>
            </a:r>
            <a:endParaRPr lang="en-US" sz="1400" dirty="0"/>
          </a:p>
        </p:txBody>
      </p:sp>
      <p:sp>
        <p:nvSpPr>
          <p:cNvPr id="7" name="tarjeta resumen 2"/>
          <p:cNvSpPr/>
          <p:nvPr/>
        </p:nvSpPr>
        <p:spPr>
          <a:xfrm>
            <a:off x="4297680" y="1463040"/>
            <a:ext cx="3474720" cy="35661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82744">
                <a:alpha val="12000"/>
              </a:srgbClr>
            </a:outerShdw>
          </a:effectLst>
        </p:spPr>
      </p:sp>
      <p:sp>
        <p:nvSpPr>
          <p:cNvPr id="8" name="cifra 2"/>
          <p:cNvSpPr txBox="1"/>
          <p:nvPr/>
        </p:nvSpPr>
        <p:spPr>
          <a:xfrm>
            <a:off x="4617720" y="17830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6000" dirty="0"/>
          </a:p>
        </p:txBody>
      </p:sp>
      <p:sp>
        <p:nvSpPr>
          <p:cNvPr id="9" name="etiqueta 2"/>
          <p:cNvSpPr txBox="1"/>
          <p:nvPr/>
        </p:nvSpPr>
        <p:spPr>
          <a:xfrm>
            <a:off x="461772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elementos con bajo contraste</a:t>
            </a:r>
            <a:endParaRPr lang="en-US" sz="1800" dirty="0"/>
          </a:p>
        </p:txBody>
      </p:sp>
      <p:sp>
        <p:nvSpPr>
          <p:cNvPr id="10" name="detalle 2"/>
          <p:cNvSpPr txBox="1"/>
          <p:nvPr/>
        </p:nvSpPr>
        <p:spPr>
          <a:xfrm>
            <a:off x="4617720" y="35204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principal hallazgo de accesibilidad: texto gris secundario por debajo de WCAG AA (4,5:1).</a:t>
            </a:r>
            <a:endParaRPr lang="en-US" sz="1400" dirty="0"/>
          </a:p>
        </p:txBody>
      </p:sp>
      <p:sp>
        <p:nvSpPr>
          <p:cNvPr id="11" name="tarjeta resumen 3"/>
          <p:cNvSpPr/>
          <p:nvPr/>
        </p:nvSpPr>
        <p:spPr>
          <a:xfrm>
            <a:off x="8046720" y="1463040"/>
            <a:ext cx="3474720" cy="356616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82744">
                <a:alpha val="12000"/>
              </a:srgbClr>
            </a:outerShdw>
          </a:effectLst>
        </p:spPr>
      </p:sp>
      <p:sp>
        <p:nvSpPr>
          <p:cNvPr id="12" name="cifra 3"/>
          <p:cNvSpPr txBox="1"/>
          <p:nvPr/>
        </p:nvSpPr>
        <p:spPr>
          <a:xfrm>
            <a:off x="8366760" y="17830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13" name="etiqueta 3"/>
          <p:cNvSpPr txBox="1"/>
          <p:nvPr/>
        </p:nvSpPr>
        <p:spPr>
          <a:xfrm>
            <a:off x="836676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riesgos críticos en la arquitectura</a:t>
            </a:r>
            <a:endParaRPr lang="en-US" sz="1800" dirty="0"/>
          </a:p>
        </p:txBody>
      </p:sp>
      <p:sp>
        <p:nvSpPr>
          <p:cNvPr id="14" name="detalle 3"/>
          <p:cNvSpPr txBox="1"/>
          <p:nvPr/>
        </p:nvSpPr>
        <p:spPr>
          <a:xfrm>
            <a:off x="8366760" y="35204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Aislamiento entre empresas, credenciales de portales, datos sensibles en IA de terceros y cumplimiento legal.</a:t>
            </a:r>
            <a:endParaRPr lang="en-US" sz="1400" dirty="0"/>
          </a:p>
        </p:txBody>
      </p:sp>
      <p:sp>
        <p:nvSpPr>
          <p:cNvPr id="15" name="conclusión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El piloto ya es usable de punta a punta; antes de producción hay que cerrar los riesgos críticos de la arquitectura y la deuda de accesibilidad.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Pruebas de UX del piloto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Versión web actual: React + Vite, IA en el navegador (Whisper small y e5-small) y la integración demo con Bumeran</a:t>
            </a:r>
            <a:endParaRPr lang="en-US" sz="1800" dirty="0"/>
          </a:p>
        </p:txBody>
      </p:sp>
      <p:sp>
        <p:nvSpPr>
          <p:cNvPr id="4" name="ícono UX fondo"/>
          <p:cNvSpPr/>
          <p:nvPr/>
        </p:nvSpPr>
        <p:spPr>
          <a:xfrm>
            <a:off x="9326880" y="2194560"/>
            <a:ext cx="1828800" cy="1828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ícono UX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2" y="2633472"/>
            <a:ext cx="950976" cy="9509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Cómo se evaluó la experiencia de uso</a:t>
            </a:r>
            <a:endParaRPr lang="en-US" sz="3000" dirty="0"/>
          </a:p>
        </p:txBody>
      </p:sp>
      <p:sp>
        <p:nvSpPr>
          <p:cNvPr id="3" name="ícono Pruebas de tareas fondo"/>
          <p:cNvSpPr/>
          <p:nvPr/>
        </p:nvSpPr>
        <p:spPr>
          <a:xfrm>
            <a:off x="548640" y="141732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ícono Pruebas de tarea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1575328"/>
            <a:ext cx="342351" cy="342351"/>
          </a:xfrm>
          <a:prstGeom prst="rect">
            <a:avLst/>
          </a:prstGeom>
        </p:spPr>
      </p:pic>
      <p:sp>
        <p:nvSpPr>
          <p:cNvPr id="5" name="método 1"/>
          <p:cNvSpPr txBox="1"/>
          <p:nvPr/>
        </p:nvSpPr>
        <p:spPr>
          <a:xfrm>
            <a:off x="1417320" y="1435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Pruebas de tareas</a:t>
            </a:r>
            <a:endParaRPr lang="en-US" sz="2000" dirty="0"/>
          </a:p>
        </p:txBody>
      </p:sp>
      <p:sp>
        <p:nvSpPr>
          <p:cNvPr id="6" name="descripción método 1"/>
          <p:cNvSpPr txBox="1"/>
          <p:nvPr/>
        </p:nvSpPr>
        <p:spPr>
          <a:xfrm>
            <a:off x="1417320" y="185623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 tareas de una reclutadora ejecutadas en Chrome real con Playwright: éxito, tiempo y número de acciones.</a:t>
            </a:r>
            <a:endParaRPr lang="en-US" sz="1400" dirty="0"/>
          </a:p>
        </p:txBody>
      </p:sp>
      <p:sp>
        <p:nvSpPr>
          <p:cNvPr id="7" name="ícono Accesibilidad fondo"/>
          <p:cNvSpPr/>
          <p:nvPr/>
        </p:nvSpPr>
        <p:spPr>
          <a:xfrm>
            <a:off x="6126480" y="141732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ícono Accesibilida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488" y="1575328"/>
            <a:ext cx="342351" cy="342351"/>
          </a:xfrm>
          <a:prstGeom prst="rect">
            <a:avLst/>
          </a:prstGeom>
        </p:spPr>
      </p:pic>
      <p:sp>
        <p:nvSpPr>
          <p:cNvPr id="9" name="método 2"/>
          <p:cNvSpPr txBox="1"/>
          <p:nvPr/>
        </p:nvSpPr>
        <p:spPr>
          <a:xfrm>
            <a:off x="6995160" y="1435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Accesibilidad</a:t>
            </a:r>
            <a:endParaRPr lang="en-US" sz="2000" dirty="0"/>
          </a:p>
        </p:txBody>
      </p:sp>
      <p:sp>
        <p:nvSpPr>
          <p:cNvPr id="10" name="descripción método 2"/>
          <p:cNvSpPr txBox="1"/>
          <p:nvPr/>
        </p:nvSpPr>
        <p:spPr>
          <a:xfrm>
            <a:off x="6995160" y="185623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axe-core con reglas WCAG 2.1 A/AA y buenas prácticas en las 6 pantallas principales.</a:t>
            </a:r>
            <a:endParaRPr lang="en-US" sz="1400" dirty="0"/>
          </a:p>
        </p:txBody>
      </p:sp>
      <p:sp>
        <p:nvSpPr>
          <p:cNvPr id="11" name="ícono Responsive y teclado fondo"/>
          <p:cNvSpPr/>
          <p:nvPr/>
        </p:nvSpPr>
        <p:spPr>
          <a:xfrm>
            <a:off x="548640" y="301752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ícono Responsive y teclad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3175528"/>
            <a:ext cx="342351" cy="342351"/>
          </a:xfrm>
          <a:prstGeom prst="rect">
            <a:avLst/>
          </a:prstGeom>
        </p:spPr>
      </p:pic>
      <p:sp>
        <p:nvSpPr>
          <p:cNvPr id="13" name="método 3"/>
          <p:cNvSpPr txBox="1"/>
          <p:nvPr/>
        </p:nvSpPr>
        <p:spPr>
          <a:xfrm>
            <a:off x="1417320" y="30358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Responsive y teclado</a:t>
            </a:r>
            <a:endParaRPr lang="en-US" sz="2000" dirty="0"/>
          </a:p>
        </p:txBody>
      </p:sp>
      <p:sp>
        <p:nvSpPr>
          <p:cNvPr id="14" name="descripción método 3"/>
          <p:cNvSpPr txBox="1"/>
          <p:nvPr/>
        </p:nvSpPr>
        <p:spPr>
          <a:xfrm>
            <a:off x="1417320" y="345643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anchos (1280, 1024, 768 y 390 px) y recorrido completo con Tab para revisar el foco visible.</a:t>
            </a:r>
            <a:endParaRPr lang="en-US" sz="1400" dirty="0"/>
          </a:p>
        </p:txBody>
      </p:sp>
      <p:sp>
        <p:nvSpPr>
          <p:cNvPr id="15" name="ícono Evaluación heurística fondo"/>
          <p:cNvSpPr/>
          <p:nvPr/>
        </p:nvSpPr>
        <p:spPr>
          <a:xfrm>
            <a:off x="6126480" y="301752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ícono Evaluación heurístic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488" y="3175528"/>
            <a:ext cx="342351" cy="342351"/>
          </a:xfrm>
          <a:prstGeom prst="rect">
            <a:avLst/>
          </a:prstGeom>
        </p:spPr>
      </p:pic>
      <p:sp>
        <p:nvSpPr>
          <p:cNvPr id="17" name="método 4"/>
          <p:cNvSpPr txBox="1"/>
          <p:nvPr/>
        </p:nvSpPr>
        <p:spPr>
          <a:xfrm>
            <a:off x="6995160" y="30358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Evaluación heurística</a:t>
            </a:r>
            <a:endParaRPr lang="en-US" sz="2000" dirty="0"/>
          </a:p>
        </p:txBody>
      </p:sp>
      <p:sp>
        <p:nvSpPr>
          <p:cNvPr id="18" name="descripción método 4"/>
          <p:cNvSpPr txBox="1"/>
          <p:nvPr/>
        </p:nvSpPr>
        <p:spPr>
          <a:xfrm>
            <a:off x="6995160" y="345643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10 heurísticas de Nielsen, calificadas de 1 a 5 con evidencia de cada pantalla.</a:t>
            </a:r>
            <a:endParaRPr lang="en-US" sz="1400" dirty="0"/>
          </a:p>
        </p:txBody>
      </p:sp>
      <p:sp>
        <p:nvSpPr>
          <p:cNvPr id="19" name="nota de alcance"/>
          <p:cNvSpPr/>
          <p:nvPr/>
        </p:nvSpPr>
        <p:spPr>
          <a:xfrm>
            <a:off x="548640" y="48006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  <a:effectLst>
            <a:outerShdw sx="100000" sy="100000" kx="0" ky="0" algn="bl" rotWithShape="0" blurRad="76200" dist="25400" dir="5400000">
              <a:srgbClr val="182744">
                <a:alpha val="12000"/>
              </a:srgbClr>
            </a:outerShdw>
          </a:effectLst>
        </p:spPr>
      </p:sp>
      <p:pic>
        <p:nvPicPr>
          <p:cNvPr id="20" name="ícono advertenci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029200"/>
            <a:ext cx="457200" cy="457200"/>
          </a:xfrm>
          <a:prstGeom prst="rect">
            <a:avLst/>
          </a:prstGeom>
        </p:spPr>
      </p:pic>
      <p:sp>
        <p:nvSpPr>
          <p:cNvPr id="21" name="texto alcance"/>
          <p:cNvSpPr txBox="1"/>
          <p:nvPr/>
        </p:nvSpPr>
        <p:spPr>
          <a:xfrm>
            <a:off x="1508760" y="4956048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Límite: son pruebas automatizadas y expertas, no con usuarios reales. El siguiente paso es validar con 5 reclutadores (pensar en voz alta + cuestionario SUS).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Las 9 tareas se completaron sin errores</a:t>
            </a:r>
            <a:endParaRPr lang="en-US" sz="3000" dirty="0"/>
          </a:p>
        </p:txBody>
      </p:sp>
      <p:graphicFrame>
        <p:nvGraphicFramePr>
          <p:cNvPr id="6" name="tabla de tare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114800"/>
                <a:gridCol w="1097280"/>
                <a:gridCol w="1188720"/>
                <a:gridCol w="40507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Tarea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Acciones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Tiempo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Resultado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Entrar con la empresa demo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0,2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 avisos de Bumeran listos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Abrir un aviso y analizar sus CVs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18,8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Ranking de 6 postulantes con evidencia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Revisar evidencia y perfil del mejor candidato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0,1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Evidencia por requisito y perfil del portal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Invitar a entrevista al Top 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0,3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 invitados marcados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Transcribir y analizar una entrevista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90,5 s*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Puntaje 77 con evidencia y minutos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Ir al minuto que sustenta un requisito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0,8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Video salta al segundo 24,4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Registrar la decisión y exportar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0,2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CSV descargado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Solicitar integración con LinkedIn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0,3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Bloquea formulario vacío y correo inválido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Esconder y mostrar el menú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0,3 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Funciona; se recuerda la preferencia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nota tiempos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>
                    <a:alpha val="80000"/>
                  </a:schemeClr>
                </a:solidFill>
              </a:rPr>
              <a:t>* Incluye la primera descarga de Whisper (589 MB). Con el modelo ya descargado, la misma entrevista de 39 s tarda menos de 10 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primera descarga del modelo es la espera más larga</a:t>
            </a:r>
            <a:endParaRPr lang="en-US" sz="3000" dirty="0"/>
          </a:p>
        </p:txBody>
      </p:sp>
      <p:graphicFrame>
        <p:nvGraphicFramePr>
          <p:cNvPr id="3" name="gráfico de tiempos" descr=""/>
          <p:cNvGraphicFramePr/>
          <p:nvPr/>
        </p:nvGraphicFramePr>
        <p:xfrm>
          <a:off x="548640" y="132588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ifra rendimiento 1"/>
          <p:cNvSpPr txBox="1"/>
          <p:nvPr/>
        </p:nvSpPr>
        <p:spPr>
          <a:xfrm>
            <a:off x="7680960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 KB</a:t>
            </a:r>
            <a:endParaRPr lang="en-US" sz="3000" dirty="0"/>
          </a:p>
        </p:txBody>
      </p:sp>
      <p:sp>
        <p:nvSpPr>
          <p:cNvPr id="5" name="detalle rendimiento 1"/>
          <p:cNvSpPr txBox="1"/>
          <p:nvPr/>
        </p:nvSpPr>
        <p:spPr>
          <a:xfrm>
            <a:off x="768096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JavaScript inicial (gzip): la app abre al instante</a:t>
            </a:r>
            <a:endParaRPr lang="en-US" sz="1300" dirty="0"/>
          </a:p>
        </p:txBody>
      </p:sp>
      <p:sp>
        <p:nvSpPr>
          <p:cNvPr id="6" name="cifra rendimiento 2"/>
          <p:cNvSpPr txBox="1"/>
          <p:nvPr/>
        </p:nvSpPr>
        <p:spPr>
          <a:xfrm>
            <a:off x="7680960" y="2423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589 MB</a:t>
            </a:r>
            <a:endParaRPr lang="en-US" sz="3000" dirty="0"/>
          </a:p>
        </p:txBody>
      </p:sp>
      <p:sp>
        <p:nvSpPr>
          <p:cNvPr id="7" name="detalle rendimiento 2"/>
          <p:cNvSpPr txBox="1"/>
          <p:nvPr/>
        </p:nvSpPr>
        <p:spPr>
          <a:xfrm>
            <a:off x="7680960" y="2926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Whisper small para GPU, se descarga una sola vez</a:t>
            </a:r>
            <a:endParaRPr lang="en-US" sz="1300" dirty="0"/>
          </a:p>
        </p:txBody>
      </p:sp>
      <p:sp>
        <p:nvSpPr>
          <p:cNvPr id="8" name="cifra rendimiento 3"/>
          <p:cNvSpPr txBox="1"/>
          <p:nvPr/>
        </p:nvSpPr>
        <p:spPr>
          <a:xfrm>
            <a:off x="7680960" y="3474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 MB</a:t>
            </a:r>
            <a:endParaRPr lang="en-US" sz="3000" dirty="0"/>
          </a:p>
        </p:txBody>
      </p:sp>
      <p:sp>
        <p:nvSpPr>
          <p:cNvPr id="9" name="detalle rendimiento 3"/>
          <p:cNvSpPr txBox="1"/>
          <p:nvPr/>
        </p:nvSpPr>
        <p:spPr>
          <a:xfrm>
            <a:off x="768096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Modelo e5-small para comparar CVs</a:t>
            </a:r>
            <a:endParaRPr lang="en-US" sz="1300" dirty="0"/>
          </a:p>
        </p:txBody>
      </p:sp>
      <p:sp>
        <p:nvSpPr>
          <p:cNvPr id="10" name="cifra rendimiento 4"/>
          <p:cNvSpPr txBox="1"/>
          <p:nvPr/>
        </p:nvSpPr>
        <p:spPr>
          <a:xfrm>
            <a:off x="7680960" y="4526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detalle rendimiento 4"/>
          <p:cNvSpPr txBox="1"/>
          <p:nvPr/>
        </p:nvSpPr>
        <p:spPr>
          <a:xfrm>
            <a:off x="7680960" y="5029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errores de JavaScript en todo el recorrido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Accesibilidad: el contraste es el problema principal</a:t>
            </a:r>
            <a:endParaRPr lang="en-US" sz="3000" dirty="0"/>
          </a:p>
        </p:txBody>
      </p:sp>
      <p:graphicFrame>
        <p:nvGraphicFramePr>
          <p:cNvPr id="3" name="gráfico de accesibilidad" descr=""/>
          <p:cNvGraphicFramePr/>
          <p:nvPr/>
        </p:nvGraphicFramePr>
        <p:xfrm>
          <a:off x="548640" y="132588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nivel 1"/>
          <p:cNvSpPr/>
          <p:nvPr/>
        </p:nvSpPr>
        <p:spPr>
          <a:xfrm>
            <a:off x="6903720" y="1371600"/>
            <a:ext cx="1097280" cy="329184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o nivel 1"/>
          <p:cNvSpPr txBox="1"/>
          <p:nvPr/>
        </p:nvSpPr>
        <p:spPr>
          <a:xfrm>
            <a:off x="6903720" y="13716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Grave</a:t>
            </a:r>
            <a:endParaRPr lang="en-US" sz="1100" dirty="0"/>
          </a:p>
        </p:txBody>
      </p:sp>
      <p:sp>
        <p:nvSpPr>
          <p:cNvPr id="6" name="hallazgo 1"/>
          <p:cNvSpPr txBox="1"/>
          <p:nvPr/>
        </p:nvSpPr>
        <p:spPr>
          <a:xfrm>
            <a:off x="8183880" y="1353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Contraste de color (62)</a:t>
            </a:r>
            <a:endParaRPr lang="en-US" sz="1500" dirty="0"/>
          </a:p>
        </p:txBody>
      </p:sp>
      <p:sp>
        <p:nvSpPr>
          <p:cNvPr id="7" name="detalle hallazgo 1"/>
          <p:cNvSpPr txBox="1"/>
          <p:nvPr/>
        </p:nvSpPr>
        <p:spPr>
          <a:xfrm>
            <a:off x="8183880" y="1737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Texto gris secundario #7A8499 sobre blanco: 3,7:1, se requiere 4,5:1.</a:t>
            </a:r>
            <a:endParaRPr lang="en-US" sz="1200" dirty="0"/>
          </a:p>
        </p:txBody>
      </p:sp>
      <p:sp>
        <p:nvSpPr>
          <p:cNvPr id="8" name="nivel 2"/>
          <p:cNvSpPr/>
          <p:nvPr/>
        </p:nvSpPr>
        <p:spPr>
          <a:xfrm>
            <a:off x="6903720" y="2395728"/>
            <a:ext cx="1097280" cy="329184"/>
          </a:xfrm>
          <a:prstGeom prst="roundRect">
            <a:avLst>
              <a:gd name="adj" fmla="val 2222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o nivel 2"/>
          <p:cNvSpPr txBox="1"/>
          <p:nvPr/>
        </p:nvSpPr>
        <p:spPr>
          <a:xfrm>
            <a:off x="6903720" y="23957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Moderado</a:t>
            </a:r>
            <a:endParaRPr lang="en-US" sz="1100" dirty="0"/>
          </a:p>
        </p:txBody>
      </p:sp>
      <p:sp>
        <p:nvSpPr>
          <p:cNvPr id="10" name="hallazgo 2"/>
          <p:cNvSpPr txBox="1"/>
          <p:nvPr/>
        </p:nvSpPr>
        <p:spPr>
          <a:xfrm>
            <a:off x="818388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Orden de encabezados (4)</a:t>
            </a:r>
            <a:endParaRPr lang="en-US" sz="1500" dirty="0"/>
          </a:p>
        </p:txBody>
      </p:sp>
      <p:sp>
        <p:nvSpPr>
          <p:cNvPr id="11" name="detalle hallazgo 2"/>
          <p:cNvSpPr txBox="1"/>
          <p:nvPr/>
        </p:nvSpPr>
        <p:spPr>
          <a:xfrm>
            <a:off x="8183880" y="27614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Las tarjetas saltan de h1 a h3.</a:t>
            </a:r>
            <a:endParaRPr lang="en-US" sz="1200" dirty="0"/>
          </a:p>
        </p:txBody>
      </p:sp>
      <p:sp>
        <p:nvSpPr>
          <p:cNvPr id="12" name="nivel 3"/>
          <p:cNvSpPr/>
          <p:nvPr/>
        </p:nvSpPr>
        <p:spPr>
          <a:xfrm>
            <a:off x="6903720" y="3419856"/>
            <a:ext cx="1097280" cy="329184"/>
          </a:xfrm>
          <a:prstGeom prst="roundRect">
            <a:avLst>
              <a:gd name="adj" fmla="val 2222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o nivel 3"/>
          <p:cNvSpPr txBox="1"/>
          <p:nvPr/>
        </p:nvSpPr>
        <p:spPr>
          <a:xfrm>
            <a:off x="6903720" y="34198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Moderado</a:t>
            </a:r>
            <a:endParaRPr lang="en-US" sz="1100" dirty="0"/>
          </a:p>
        </p:txBody>
      </p:sp>
      <p:sp>
        <p:nvSpPr>
          <p:cNvPr id="14" name="hallazgo 3"/>
          <p:cNvSpPr txBox="1"/>
          <p:nvPr/>
        </p:nvSpPr>
        <p:spPr>
          <a:xfrm>
            <a:off x="8183880" y="34015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Sin región principal (9)</a:t>
            </a:r>
            <a:endParaRPr lang="en-US" sz="1500" dirty="0"/>
          </a:p>
        </p:txBody>
      </p:sp>
      <p:sp>
        <p:nvSpPr>
          <p:cNvPr id="15" name="detalle hallazgo 3"/>
          <p:cNvSpPr txBox="1"/>
          <p:nvPr/>
        </p:nvSpPr>
        <p:spPr>
          <a:xfrm>
            <a:off x="8183880" y="378561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 bienvenida no usa la etiqueta &lt;main&gt;.</a:t>
            </a:r>
            <a:endParaRPr lang="en-US" sz="1200" dirty="0"/>
          </a:p>
        </p:txBody>
      </p:sp>
      <p:sp>
        <p:nvSpPr>
          <p:cNvPr id="16" name="nivel 4"/>
          <p:cNvSpPr/>
          <p:nvPr/>
        </p:nvSpPr>
        <p:spPr>
          <a:xfrm>
            <a:off x="6903720" y="4443984"/>
            <a:ext cx="1097280" cy="329184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o nivel 4"/>
          <p:cNvSpPr txBox="1"/>
          <p:nvPr/>
        </p:nvSpPr>
        <p:spPr>
          <a:xfrm>
            <a:off x="6903720" y="44439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Menor</a:t>
            </a:r>
            <a:endParaRPr lang="en-US" sz="1100" dirty="0"/>
          </a:p>
        </p:txBody>
      </p:sp>
      <p:sp>
        <p:nvSpPr>
          <p:cNvPr id="18" name="hallazgo 4"/>
          <p:cNvSpPr txBox="1"/>
          <p:nvPr/>
        </p:nvSpPr>
        <p:spPr>
          <a:xfrm>
            <a:off x="8183880" y="44256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Encabezados de tabla vacíos (2)</a:t>
            </a:r>
            <a:endParaRPr lang="en-US" sz="1500" dirty="0"/>
          </a:p>
        </p:txBody>
      </p:sp>
      <p:sp>
        <p:nvSpPr>
          <p:cNvPr id="19" name="detalle hallazgo 4"/>
          <p:cNvSpPr txBox="1"/>
          <p:nvPr/>
        </p:nvSpPr>
        <p:spPr>
          <a:xfrm>
            <a:off x="8183880" y="480974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Columna del botón de expandir sin nombre.</a:t>
            </a:r>
            <a:endParaRPr lang="en-US" sz="1200" dirty="0"/>
          </a:p>
        </p:txBody>
      </p:sp>
      <p:sp>
        <p:nvSpPr>
          <p:cNvPr id="20" name="lo que funciona"/>
          <p:cNvSpPr txBox="1"/>
          <p:nvPr/>
        </p:nvSpPr>
        <p:spPr>
          <a:xfrm>
            <a:off x="6903720" y="54406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Bien: foco visible en todo el recorrido con teclado y sin desborde horizontal en 15 de 16 combinaciones de pantalla y ancho (solo la Parte 2 a 1024 px, +24 px).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Evaluación heurística (Nielsen): 3,6 de 5</a:t>
            </a:r>
            <a:endParaRPr lang="en-US" sz="3000" dirty="0"/>
          </a:p>
        </p:txBody>
      </p:sp>
      <p:graphicFrame>
        <p:nvGraphicFramePr>
          <p:cNvPr id="9" name="tabla heurístic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914400"/>
                <a:gridCol w="70683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Heurística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Nota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Evidencia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Visibilidad del estado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 / 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Barras de progreso y conteos por parte; la descarga de 589 MB no se anuncia antes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Relación con el mundo real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 / 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Lenguaje de RR. HH.; aparecen términos técnicos («tramo», «similitud»)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Control y libertad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 / 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Sin deshacer al quitar un postulante ni historial de decisiones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Consistencia y estándares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 / 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Tres partes con color propio; el puntaje de CV es relativo y el de entrevista, absoluto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Prevención de errores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 / 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Valida formularios y avisa cuando cambian los requisitos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Reconocer antes que recordar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 / 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Evidencia junto al puntaje y ▶ mm:ss que lleva al momento exacto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Flexibilidad y eficiencia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 / 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Sin búsqueda, filtros ni acciones masivas (salvo el Top N)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Diseño estético y minimalista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 / 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Limpio; la Parte 2 es densa en pantallas medianas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Reconocer y recuperarse de errores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 / 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Mensajes claros sin internet o sin memoria, con qué hacer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Ayuda y documentación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 / 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 hay recorrido guiado ni ayuda contextual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 que mejor funciona: evidencia explicable</a:t>
            </a:r>
            <a:endParaRPr lang="en-US" sz="3000" dirty="0"/>
          </a:p>
        </p:txBody>
      </p:sp>
      <p:pic>
        <p:nvPicPr>
          <p:cNvPr id="3" name="captura Parte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035040" cy="375357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82744">
                <a:alpha val="12000"/>
              </a:srgbClr>
            </a:outerShdw>
          </a:effectLst>
        </p:spPr>
      </p:pic>
      <p:pic>
        <p:nvPicPr>
          <p:cNvPr id="4" name="captura Parte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474" y="1325880"/>
            <a:ext cx="3835581" cy="3703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82744">
                <a:alpha val="12000"/>
              </a:srgbClr>
            </a:outerShdw>
          </a:effectLst>
        </p:spPr>
      </p:pic>
      <p:sp>
        <p:nvSpPr>
          <p:cNvPr id="5" name="leyenda Parte 1"/>
          <p:cNvSpPr txBox="1"/>
          <p:nvPr/>
        </p:nvSpPr>
        <p:spPr>
          <a:xfrm>
            <a:off x="548640" y="51663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Parte 1: cada puntaje viene con la frase del perfil que lo respalda.</a:t>
            </a:r>
            <a:endParaRPr lang="en-US" sz="1400" dirty="0"/>
          </a:p>
        </p:txBody>
      </p:sp>
      <p:sp>
        <p:nvSpPr>
          <p:cNvPr id="6" name="leyenda Parte 2"/>
          <p:cNvSpPr txBox="1"/>
          <p:nvPr/>
        </p:nvSpPr>
        <p:spPr>
          <a:xfrm>
            <a:off x="7807474" y="5166360"/>
            <a:ext cx="38355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Parte 2: cada requisito muestra la cita y el minuto exacto del video.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Oportunidades de mejora de UX</a:t>
            </a:r>
            <a:endParaRPr lang="en-US" sz="3000" dirty="0"/>
          </a:p>
        </p:txBody>
      </p:sp>
      <p:sp>
        <p:nvSpPr>
          <p:cNvPr id="3" name="oportunidades UX 1"/>
          <p:cNvSpPr/>
          <p:nvPr/>
        </p:nvSpPr>
        <p:spPr>
          <a:xfrm>
            <a:off x="548640" y="1371600"/>
            <a:ext cx="3474720" cy="35204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82744">
                <a:alpha val="12000"/>
              </a:srgbClr>
            </a:outerShdw>
          </a:effectLst>
        </p:spPr>
      </p:sp>
      <p:sp>
        <p:nvSpPr>
          <p:cNvPr id="4" name="plazo UX 1"/>
          <p:cNvSpPr/>
          <p:nvPr/>
        </p:nvSpPr>
        <p:spPr>
          <a:xfrm>
            <a:off x="822960" y="1645920"/>
            <a:ext cx="2377440" cy="384048"/>
          </a:xfrm>
          <a:prstGeom prst="roundRect">
            <a:avLst>
              <a:gd name="adj" fmla="val 2381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o plazo UX 1"/>
          <p:cNvSpPr txBox="1"/>
          <p:nvPr/>
        </p:nvSpPr>
        <p:spPr>
          <a:xfrm>
            <a:off x="822960" y="1645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Rápidas (1 semana)</a:t>
            </a:r>
            <a:endParaRPr lang="en-US" sz="1300" dirty="0"/>
          </a:p>
        </p:txBody>
      </p:sp>
      <p:sp>
        <p:nvSpPr>
          <p:cNvPr id="6" name="lista UX 1"/>
          <p:cNvSpPr txBox="1"/>
          <p:nvPr/>
        </p:nvSpPr>
        <p:spPr>
          <a:xfrm>
            <a:off x="822960" y="2240280"/>
            <a:ext cx="2971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Oscurecer el texto secundario a #5F6B80 (≥ 4,5:1)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Agregar &lt;main&gt;, orden de encabezados y nombres de columna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Corregir el desborde de la Parte 2 a 1024 px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Aviso antes de descargar Whisper (tamaño y tiempo estimado)</a:t>
            </a:r>
            <a:endParaRPr lang="en-US" sz="1400" dirty="0"/>
          </a:p>
        </p:txBody>
      </p:sp>
      <p:sp>
        <p:nvSpPr>
          <p:cNvPr id="7" name="oportunidades UX 2"/>
          <p:cNvSpPr/>
          <p:nvPr/>
        </p:nvSpPr>
        <p:spPr>
          <a:xfrm>
            <a:off x="4297680" y="1371600"/>
            <a:ext cx="3474720" cy="35204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82744">
                <a:alpha val="12000"/>
              </a:srgbClr>
            </a:outerShdw>
          </a:effectLst>
        </p:spPr>
      </p:sp>
      <p:sp>
        <p:nvSpPr>
          <p:cNvPr id="8" name="plazo UX 2"/>
          <p:cNvSpPr/>
          <p:nvPr/>
        </p:nvSpPr>
        <p:spPr>
          <a:xfrm>
            <a:off x="4572000" y="1645920"/>
            <a:ext cx="237744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o plazo UX 2"/>
          <p:cNvSpPr txBox="1"/>
          <p:nvPr/>
        </p:nvSpPr>
        <p:spPr>
          <a:xfrm>
            <a:off x="4572000" y="1645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 producto (1 mes)</a:t>
            </a:r>
            <a:endParaRPr lang="en-US" sz="1300" dirty="0"/>
          </a:p>
        </p:txBody>
      </p:sp>
      <p:sp>
        <p:nvSpPr>
          <p:cNvPr id="10" name="lista UX 2"/>
          <p:cNvSpPr txBox="1"/>
          <p:nvPr/>
        </p:nvSpPr>
        <p:spPr>
          <a:xfrm>
            <a:off x="4572000" y="2240280"/>
            <a:ext cx="2971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Explicar «100 = mejor de esta convocatoria» junto al puntaje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Búsqueda, filtros y acciones masivas en el ranking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Deshacer al descartar e historial de decisiones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Precargar los modelos mientras se revisa la Parte 1</a:t>
            </a:r>
            <a:endParaRPr lang="en-US" sz="1400" dirty="0"/>
          </a:p>
        </p:txBody>
      </p:sp>
      <p:sp>
        <p:nvSpPr>
          <p:cNvPr id="11" name="oportunidades UX 3"/>
          <p:cNvSpPr/>
          <p:nvPr/>
        </p:nvSpPr>
        <p:spPr>
          <a:xfrm>
            <a:off x="8046720" y="1371600"/>
            <a:ext cx="3474720" cy="35204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82744">
                <a:alpha val="12000"/>
              </a:srgbClr>
            </a:outerShdw>
          </a:effectLst>
        </p:spPr>
      </p:sp>
      <p:sp>
        <p:nvSpPr>
          <p:cNvPr id="12" name="plazo UX 3"/>
          <p:cNvSpPr/>
          <p:nvPr/>
        </p:nvSpPr>
        <p:spPr>
          <a:xfrm>
            <a:off x="8321040" y="1645920"/>
            <a:ext cx="2377440" cy="384048"/>
          </a:xfrm>
          <a:prstGeom prst="roundRect">
            <a:avLst>
              <a:gd name="adj" fmla="val 2381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o plazo UX 3"/>
          <p:cNvSpPr txBox="1"/>
          <p:nvPr/>
        </p:nvSpPr>
        <p:spPr>
          <a:xfrm>
            <a:off x="8321040" y="1645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 validación</a:t>
            </a:r>
            <a:endParaRPr lang="en-US" sz="1300" dirty="0"/>
          </a:p>
        </p:txBody>
      </p:sp>
      <p:sp>
        <p:nvSpPr>
          <p:cNvPr id="14" name="lista UX 3"/>
          <p:cNvSpPr txBox="1"/>
          <p:nvPr/>
        </p:nvSpPr>
        <p:spPr>
          <a:xfrm>
            <a:off x="8321040" y="2240280"/>
            <a:ext cx="2971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Pruebas con 5 reclutadores reales (pensar en voz alta)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Cuestionario SUS: meta ≥ 75 puntos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Recorrido guiado de 3 pasos para nuevas empresas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Medir tiempo hasta la primera decisión por convocatoria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Análisis de seguridad de la arquitectura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Plataforma objetivo: Cloudflare, AWS (frontend y backend), IA en GPU en la nube, servidor de scraping, Supabase y Cloudflare R2</a:t>
            </a:r>
            <a:endParaRPr lang="en-US" sz="1800" dirty="0"/>
          </a:p>
        </p:txBody>
      </p:sp>
      <p:sp>
        <p:nvSpPr>
          <p:cNvPr id="4" name="ícono seguridad fondo"/>
          <p:cNvSpPr/>
          <p:nvPr/>
        </p:nvSpPr>
        <p:spPr>
          <a:xfrm>
            <a:off x="9326880" y="2194560"/>
            <a:ext cx="1828800" cy="1828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ícono segurida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2" y="2633472"/>
            <a:ext cx="950976" cy="9509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Arquitectura evaluada y sus fronteras de confianza</a:t>
            </a:r>
            <a:endParaRPr lang="en-US" sz="3000" dirty="0"/>
          </a:p>
        </p:txBody>
      </p:sp>
      <p:pic>
        <p:nvPicPr>
          <p:cNvPr id="3" name="diagrama de arquitectura" descr="C:\Users\aaron\Documents\PROYECTO GTH\Palomar_Talent\Arquitectura web de Palomar Talent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858000" cy="4572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82744">
                <a:alpha val="12000"/>
              </a:srgbClr>
            </a:outerShdw>
          </a:effectLst>
        </p:spPr>
      </p:pic>
      <p:sp>
        <p:nvSpPr>
          <p:cNvPr id="4" name="frontera F1"/>
          <p:cNvSpPr/>
          <p:nvPr/>
        </p:nvSpPr>
        <p:spPr>
          <a:xfrm>
            <a:off x="7726680" y="1325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etiqueta F1"/>
          <p:cNvSpPr txBox="1"/>
          <p:nvPr/>
        </p:nvSpPr>
        <p:spPr>
          <a:xfrm>
            <a:off x="77266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F1</a:t>
            </a:r>
            <a:endParaRPr lang="en-US" sz="1200" dirty="0"/>
          </a:p>
        </p:txBody>
      </p:sp>
      <p:sp>
        <p:nvSpPr>
          <p:cNvPr id="6" name="texto F1"/>
          <p:cNvSpPr txBox="1"/>
          <p:nvPr/>
        </p:nvSpPr>
        <p:spPr>
          <a:xfrm>
            <a:off x="8321040" y="1307592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Internet → Cloudflare (WAF, DDoS, TLS)</a:t>
            </a:r>
            <a:endParaRPr lang="en-US" sz="1300" dirty="0"/>
          </a:p>
        </p:txBody>
      </p:sp>
      <p:sp>
        <p:nvSpPr>
          <p:cNvPr id="7" name="frontera F2"/>
          <p:cNvSpPr/>
          <p:nvPr/>
        </p:nvSpPr>
        <p:spPr>
          <a:xfrm>
            <a:off x="7726680" y="2075688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etiqueta F2"/>
          <p:cNvSpPr txBox="1"/>
          <p:nvPr/>
        </p:nvSpPr>
        <p:spPr>
          <a:xfrm>
            <a:off x="772668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F2</a:t>
            </a:r>
            <a:endParaRPr lang="en-US" sz="1200" dirty="0"/>
          </a:p>
        </p:txBody>
      </p:sp>
      <p:sp>
        <p:nvSpPr>
          <p:cNvPr id="9" name="texto F2"/>
          <p:cNvSpPr txBox="1"/>
          <p:nvPr/>
        </p:nvSpPr>
        <p:spPr>
          <a:xfrm>
            <a:off x="8321040" y="2057400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Cloudflare → AWS (API FastAPI)</a:t>
            </a:r>
            <a:endParaRPr lang="en-US" sz="1300" dirty="0"/>
          </a:p>
        </p:txBody>
      </p:sp>
      <p:sp>
        <p:nvSpPr>
          <p:cNvPr id="10" name="frontera F3"/>
          <p:cNvSpPr/>
          <p:nvPr/>
        </p:nvSpPr>
        <p:spPr>
          <a:xfrm>
            <a:off x="7726680" y="2825496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etiqueta F3"/>
          <p:cNvSpPr txBox="1"/>
          <p:nvPr/>
        </p:nvSpPr>
        <p:spPr>
          <a:xfrm>
            <a:off x="772668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F3</a:t>
            </a:r>
            <a:endParaRPr lang="en-US" sz="1200" dirty="0"/>
          </a:p>
        </p:txBody>
      </p:sp>
      <p:sp>
        <p:nvSpPr>
          <p:cNvPr id="12" name="texto F3"/>
          <p:cNvSpPr txBox="1"/>
          <p:nvPr/>
        </p:nvSpPr>
        <p:spPr>
          <a:xfrm>
            <a:off x="8321040" y="2807208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AWS → servidor de scraping (otro proveedor)</a:t>
            </a:r>
            <a:endParaRPr lang="en-US" sz="1300" dirty="0"/>
          </a:p>
        </p:txBody>
      </p:sp>
      <p:sp>
        <p:nvSpPr>
          <p:cNvPr id="13" name="frontera F4"/>
          <p:cNvSpPr/>
          <p:nvPr/>
        </p:nvSpPr>
        <p:spPr>
          <a:xfrm>
            <a:off x="7726680" y="3575304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etiqueta F4"/>
          <p:cNvSpPr txBox="1"/>
          <p:nvPr/>
        </p:nvSpPr>
        <p:spPr>
          <a:xfrm>
            <a:off x="772668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F4</a:t>
            </a:r>
            <a:endParaRPr lang="en-US" sz="1200" dirty="0"/>
          </a:p>
        </p:txBody>
      </p:sp>
      <p:sp>
        <p:nvSpPr>
          <p:cNvPr id="15" name="texto F4"/>
          <p:cNvSpPr txBox="1"/>
          <p:nvPr/>
        </p:nvSpPr>
        <p:spPr>
          <a:xfrm>
            <a:off x="8321040" y="3557016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AWS → IA en GPU de terceros (Modal / Runpod)</a:t>
            </a:r>
            <a:endParaRPr lang="en-US" sz="1300" dirty="0"/>
          </a:p>
        </p:txBody>
      </p:sp>
      <p:sp>
        <p:nvSpPr>
          <p:cNvPr id="16" name="frontera F5"/>
          <p:cNvSpPr/>
          <p:nvPr/>
        </p:nvSpPr>
        <p:spPr>
          <a:xfrm>
            <a:off x="7726680" y="4325112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etiqueta F5"/>
          <p:cNvSpPr txBox="1"/>
          <p:nvPr/>
        </p:nvSpPr>
        <p:spPr>
          <a:xfrm>
            <a:off x="772668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F5</a:t>
            </a:r>
            <a:endParaRPr lang="en-US" sz="1200" dirty="0"/>
          </a:p>
        </p:txBody>
      </p:sp>
      <p:sp>
        <p:nvSpPr>
          <p:cNvPr id="18" name="texto F5"/>
          <p:cNvSpPr txBox="1"/>
          <p:nvPr/>
        </p:nvSpPr>
        <p:spPr>
          <a:xfrm>
            <a:off x="8321040" y="4306824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AWS → Supabase, R2, Redis y SQS</a:t>
            </a:r>
            <a:endParaRPr lang="en-US" sz="1300" dirty="0"/>
          </a:p>
        </p:txBody>
      </p:sp>
      <p:sp>
        <p:nvSpPr>
          <p:cNvPr id="19" name="frontera F6"/>
          <p:cNvSpPr/>
          <p:nvPr/>
        </p:nvSpPr>
        <p:spPr>
          <a:xfrm>
            <a:off x="7726680" y="507492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etiqueta F6"/>
          <p:cNvSpPr txBox="1"/>
          <p:nvPr/>
        </p:nvSpPr>
        <p:spPr>
          <a:xfrm>
            <a:off x="772668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F6</a:t>
            </a:r>
            <a:endParaRPr lang="en-US" sz="1200" dirty="0"/>
          </a:p>
        </p:txBody>
      </p:sp>
      <p:sp>
        <p:nvSpPr>
          <p:cNvPr id="21" name="texto F6"/>
          <p:cNvSpPr txBox="1"/>
          <p:nvPr/>
        </p:nvSpPr>
        <p:spPr>
          <a:xfrm>
            <a:off x="8321040" y="5056632"/>
            <a:ext cx="3322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Todo → monitoreo (CloudWatch, Sentry)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Marco de evaluación</a:t>
            </a:r>
            <a:endParaRPr lang="en-US" sz="3000" dirty="0"/>
          </a:p>
        </p:txBody>
      </p:sp>
      <p:sp>
        <p:nvSpPr>
          <p:cNvPr id="3" name="ícono STRIDE por componente fondo"/>
          <p:cNvSpPr/>
          <p:nvPr/>
        </p:nvSpPr>
        <p:spPr>
          <a:xfrm>
            <a:off x="548640" y="132588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ícono STRIDE por componen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1483888"/>
            <a:ext cx="342351" cy="342351"/>
          </a:xfrm>
          <a:prstGeom prst="rect">
            <a:avLst/>
          </a:prstGeom>
        </p:spPr>
      </p:pic>
      <p:sp>
        <p:nvSpPr>
          <p:cNvPr id="5" name="marco 1"/>
          <p:cNvSpPr txBox="1"/>
          <p:nvPr/>
        </p:nvSpPr>
        <p:spPr>
          <a:xfrm>
            <a:off x="141732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STRIDE por componente</a:t>
            </a:r>
            <a:endParaRPr lang="en-US" sz="1800" dirty="0"/>
          </a:p>
        </p:txBody>
      </p:sp>
      <p:sp>
        <p:nvSpPr>
          <p:cNvPr id="6" name="detalle marco 1"/>
          <p:cNvSpPr txBox="1"/>
          <p:nvPr/>
        </p:nvSpPr>
        <p:spPr>
          <a:xfrm>
            <a:off x="1417320" y="170992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Suplantación, alteración, repudio, fuga de información, denegación de servicio y escalada de privilegios en cada caja y flecha del diagrama.</a:t>
            </a:r>
            <a:endParaRPr lang="en-US" sz="1400" dirty="0"/>
          </a:p>
        </p:txBody>
      </p:sp>
      <p:sp>
        <p:nvSpPr>
          <p:cNvPr id="7" name="ícono OWASP Top 10 (2021) fondo"/>
          <p:cNvSpPr/>
          <p:nvPr/>
        </p:nvSpPr>
        <p:spPr>
          <a:xfrm>
            <a:off x="548640" y="2441448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ícono OWASP Top 10 (2021)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2599456"/>
            <a:ext cx="342351" cy="342351"/>
          </a:xfrm>
          <a:prstGeom prst="rect">
            <a:avLst/>
          </a:prstGeom>
        </p:spPr>
      </p:pic>
      <p:sp>
        <p:nvSpPr>
          <p:cNvPr id="9" name="marco 2"/>
          <p:cNvSpPr txBox="1"/>
          <p:nvPr/>
        </p:nvSpPr>
        <p:spPr>
          <a:xfrm>
            <a:off x="1417320" y="24414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OWASP Top 10 (2021)</a:t>
            </a:r>
            <a:endParaRPr lang="en-US" sz="1800" dirty="0"/>
          </a:p>
        </p:txBody>
      </p:sp>
      <p:sp>
        <p:nvSpPr>
          <p:cNvPr id="10" name="detalle marco 2"/>
          <p:cNvSpPr txBox="1"/>
          <p:nvPr/>
        </p:nvSpPr>
        <p:spPr>
          <a:xfrm>
            <a:off x="1417320" y="282549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 de acceso roto, fallas criptográficas, inyección, configuración insegura y componentes vulnerables en la API y el frontend.</a:t>
            </a:r>
            <a:endParaRPr lang="en-US" sz="1400" dirty="0"/>
          </a:p>
        </p:txBody>
      </p:sp>
      <p:sp>
        <p:nvSpPr>
          <p:cNvPr id="11" name="ícono OWASP Top 10 para LLM fondo"/>
          <p:cNvSpPr/>
          <p:nvPr/>
        </p:nvSpPr>
        <p:spPr>
          <a:xfrm>
            <a:off x="548640" y="3557016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ícono OWASP Top 10 para LLM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3715024"/>
            <a:ext cx="342351" cy="342351"/>
          </a:xfrm>
          <a:prstGeom prst="rect">
            <a:avLst/>
          </a:prstGeom>
        </p:spPr>
      </p:pic>
      <p:sp>
        <p:nvSpPr>
          <p:cNvPr id="13" name="marco 3"/>
          <p:cNvSpPr txBox="1"/>
          <p:nvPr/>
        </p:nvSpPr>
        <p:spPr>
          <a:xfrm>
            <a:off x="1417320" y="35570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OWASP Top 10 para LLM</a:t>
            </a:r>
            <a:endParaRPr lang="en-US" sz="1800" dirty="0"/>
          </a:p>
        </p:txBody>
      </p:sp>
      <p:sp>
        <p:nvSpPr>
          <p:cNvPr id="14" name="detalle marco 3"/>
          <p:cNvSpPr txBox="1"/>
          <p:nvPr/>
        </p:nvSpPr>
        <p:spPr>
          <a:xfrm>
            <a:off x="1417320" y="394106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Inyección de instrucciones en CVs, filtración de datos al proveedor de IA, sesgo y exceso de confianza en el puntaje.</a:t>
            </a:r>
            <a:endParaRPr lang="en-US" sz="1400" dirty="0"/>
          </a:p>
        </p:txBody>
      </p:sp>
      <p:sp>
        <p:nvSpPr>
          <p:cNvPr id="15" name="ícono Ley N.° 29733 (Perú) fondo"/>
          <p:cNvSpPr/>
          <p:nvPr/>
        </p:nvSpPr>
        <p:spPr>
          <a:xfrm>
            <a:off x="548640" y="4672584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ícono Ley N.° 29733 (Perú)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4830592"/>
            <a:ext cx="342351" cy="342351"/>
          </a:xfrm>
          <a:prstGeom prst="rect">
            <a:avLst/>
          </a:prstGeom>
        </p:spPr>
      </p:pic>
      <p:sp>
        <p:nvSpPr>
          <p:cNvPr id="17" name="marco 4"/>
          <p:cNvSpPr txBox="1"/>
          <p:nvPr/>
        </p:nvSpPr>
        <p:spPr>
          <a:xfrm>
            <a:off x="1417320" y="467258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Ley N.° 29733 (Perú)</a:t>
            </a:r>
            <a:endParaRPr lang="en-US" sz="1800" dirty="0"/>
          </a:p>
        </p:txBody>
      </p:sp>
      <p:sp>
        <p:nvSpPr>
          <p:cNvPr id="18" name="detalle marco 4"/>
          <p:cNvSpPr txBox="1"/>
          <p:nvPr/>
        </p:nvSpPr>
        <p:spPr>
          <a:xfrm>
            <a:off x="1417320" y="505663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Protección de datos personales: consentimiento, finalidad, transferencia internacional y derechos ARCO de los postulantes.</a:t>
            </a:r>
            <a:endParaRPr lang="en-US" sz="1400" dirty="0"/>
          </a:p>
        </p:txBody>
      </p:sp>
      <p:sp>
        <p:nvSpPr>
          <p:cNvPr id="19" name="escala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>
                    <a:alpha val="80000"/>
                  </a:schemeClr>
                </a:solidFill>
              </a:rPr>
              <a:t>Severidad = probabilidad × impacto (escala 1 a 3). Crítico ≥ 6, alto = 4, medio ≤ 3.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Mapa de riesgos: 6 críticos, 5 altos y 4 medios</a:t>
            </a:r>
            <a:endParaRPr lang="en-US" sz="3000" dirty="0"/>
          </a:p>
        </p:txBody>
      </p:sp>
      <p:sp>
        <p:nvSpPr>
          <p:cNvPr id="3" name="celda P3 I1"/>
          <p:cNvSpPr/>
          <p:nvPr/>
        </p:nvSpPr>
        <p:spPr>
          <a:xfrm>
            <a:off x="1371600" y="1417320"/>
            <a:ext cx="1545336" cy="1225296"/>
          </a:xfrm>
          <a:prstGeom prst="rect">
            <a:avLst/>
          </a:prstGeom>
          <a:solidFill>
            <a:srgbClr val="E3EE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riesgos P3 I1"/>
          <p:cNvSpPr txBox="1"/>
          <p:nvPr/>
        </p:nvSpPr>
        <p:spPr>
          <a:xfrm>
            <a:off x="1371600" y="1417320"/>
            <a:ext cx="1545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R12</a:t>
            </a:r>
            <a:endParaRPr lang="en-US" sz="1500" dirty="0"/>
          </a:p>
        </p:txBody>
      </p:sp>
      <p:sp>
        <p:nvSpPr>
          <p:cNvPr id="5" name="celda P3 I2"/>
          <p:cNvSpPr/>
          <p:nvPr/>
        </p:nvSpPr>
        <p:spPr>
          <a:xfrm>
            <a:off x="2971800" y="1417320"/>
            <a:ext cx="1545336" cy="1225296"/>
          </a:xfrm>
          <a:prstGeom prst="rect">
            <a:avLst/>
          </a:prstGeom>
          <a:solidFill>
            <a:srgbClr val="F6D6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riesgos P3 I2"/>
          <p:cNvSpPr txBox="1"/>
          <p:nvPr/>
        </p:nvSpPr>
        <p:spPr>
          <a:xfrm>
            <a:off x="2971800" y="1417320"/>
            <a:ext cx="1545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R4  R5  R6</a:t>
            </a:r>
            <a:endParaRPr lang="en-US" sz="1500" dirty="0"/>
          </a:p>
        </p:txBody>
      </p:sp>
      <p:sp>
        <p:nvSpPr>
          <p:cNvPr id="7" name="celda P3 I3"/>
          <p:cNvSpPr/>
          <p:nvPr/>
        </p:nvSpPr>
        <p:spPr>
          <a:xfrm>
            <a:off x="4572000" y="1417320"/>
            <a:ext cx="1545336" cy="1225296"/>
          </a:xfrm>
          <a:prstGeom prst="rect">
            <a:avLst/>
          </a:prstGeom>
          <a:solidFill>
            <a:srgbClr val="F6D6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riesgos P3 I3"/>
          <p:cNvSpPr txBox="1"/>
          <p:nvPr/>
        </p:nvSpPr>
        <p:spPr>
          <a:xfrm>
            <a:off x="4572000" y="1417320"/>
            <a:ext cx="1545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R1  R2  R3</a:t>
            </a:r>
            <a:endParaRPr lang="en-US" sz="1500" dirty="0"/>
          </a:p>
        </p:txBody>
      </p:sp>
      <p:sp>
        <p:nvSpPr>
          <p:cNvPr id="9" name="celda P2 I1"/>
          <p:cNvSpPr/>
          <p:nvPr/>
        </p:nvSpPr>
        <p:spPr>
          <a:xfrm>
            <a:off x="1371600" y="2697480"/>
            <a:ext cx="1545336" cy="1225296"/>
          </a:xfrm>
          <a:prstGeom prst="rect">
            <a:avLst/>
          </a:prstGeom>
          <a:solidFill>
            <a:srgbClr val="E3EE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riesgos P2 I1"/>
          <p:cNvSpPr txBox="1"/>
          <p:nvPr/>
        </p:nvSpPr>
        <p:spPr>
          <a:xfrm>
            <a:off x="1371600" y="2697480"/>
            <a:ext cx="1545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R14</a:t>
            </a:r>
            <a:endParaRPr lang="en-US" sz="1500" dirty="0"/>
          </a:p>
        </p:txBody>
      </p:sp>
      <p:sp>
        <p:nvSpPr>
          <p:cNvPr id="11" name="celda P2 I2"/>
          <p:cNvSpPr/>
          <p:nvPr/>
        </p:nvSpPr>
        <p:spPr>
          <a:xfrm>
            <a:off x="2971800" y="2697480"/>
            <a:ext cx="1545336" cy="1225296"/>
          </a:xfrm>
          <a:prstGeom prst="rect">
            <a:avLst/>
          </a:prstGeom>
          <a:solidFill>
            <a:srgbClr val="F8E6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riesgos P2 I2"/>
          <p:cNvSpPr txBox="1"/>
          <p:nvPr/>
        </p:nvSpPr>
        <p:spPr>
          <a:xfrm>
            <a:off x="2971800" y="2697480"/>
            <a:ext cx="1545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R7  R8  R9  R10  R11</a:t>
            </a:r>
            <a:endParaRPr lang="en-US" sz="1500" dirty="0"/>
          </a:p>
        </p:txBody>
      </p:sp>
      <p:sp>
        <p:nvSpPr>
          <p:cNvPr id="13" name="celda P2 I3"/>
          <p:cNvSpPr/>
          <p:nvPr/>
        </p:nvSpPr>
        <p:spPr>
          <a:xfrm>
            <a:off x="4572000" y="2697480"/>
            <a:ext cx="1545336" cy="1225296"/>
          </a:xfrm>
          <a:prstGeom prst="rect">
            <a:avLst/>
          </a:prstGeom>
          <a:solidFill>
            <a:srgbClr val="F6D6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celda P1 I1"/>
          <p:cNvSpPr/>
          <p:nvPr/>
        </p:nvSpPr>
        <p:spPr>
          <a:xfrm>
            <a:off x="1371600" y="3977640"/>
            <a:ext cx="1545336" cy="1225296"/>
          </a:xfrm>
          <a:prstGeom prst="rect">
            <a:avLst/>
          </a:prstGeom>
          <a:solidFill>
            <a:srgbClr val="E3EE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celda P1 I2"/>
          <p:cNvSpPr/>
          <p:nvPr/>
        </p:nvSpPr>
        <p:spPr>
          <a:xfrm>
            <a:off x="2971800" y="3977640"/>
            <a:ext cx="1545336" cy="1225296"/>
          </a:xfrm>
          <a:prstGeom prst="rect">
            <a:avLst/>
          </a:prstGeom>
          <a:solidFill>
            <a:srgbClr val="E3EE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riesgos P1 I2"/>
          <p:cNvSpPr txBox="1"/>
          <p:nvPr/>
        </p:nvSpPr>
        <p:spPr>
          <a:xfrm>
            <a:off x="2971800" y="3977640"/>
            <a:ext cx="1545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R15</a:t>
            </a:r>
            <a:endParaRPr lang="en-US" sz="1500" dirty="0"/>
          </a:p>
        </p:txBody>
      </p:sp>
      <p:sp>
        <p:nvSpPr>
          <p:cNvPr id="17" name="celda P1 I3"/>
          <p:cNvSpPr/>
          <p:nvPr/>
        </p:nvSpPr>
        <p:spPr>
          <a:xfrm>
            <a:off x="4572000" y="3977640"/>
            <a:ext cx="1545336" cy="1225296"/>
          </a:xfrm>
          <a:prstGeom prst="rect">
            <a:avLst/>
          </a:prstGeom>
          <a:solidFill>
            <a:srgbClr val="E3EE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riesgos P1 I3"/>
          <p:cNvSpPr txBox="1"/>
          <p:nvPr/>
        </p:nvSpPr>
        <p:spPr>
          <a:xfrm>
            <a:off x="4572000" y="3977640"/>
            <a:ext cx="15453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R13</a:t>
            </a:r>
            <a:endParaRPr lang="en-US" sz="1500" dirty="0"/>
          </a:p>
        </p:txBody>
      </p:sp>
      <p:sp>
        <p:nvSpPr>
          <p:cNvPr id="19" name="eje probabilidad"/>
          <p:cNvSpPr txBox="1"/>
          <p:nvPr/>
        </p:nvSpPr>
        <p:spPr>
          <a:xfrm rot="16200000">
            <a:off x="411480" y="2880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Probabilidad</a:t>
            </a:r>
            <a:endParaRPr lang="en-US" sz="1200" dirty="0"/>
          </a:p>
        </p:txBody>
      </p:sp>
      <p:sp>
        <p:nvSpPr>
          <p:cNvPr id="20" name="prob Alta"/>
          <p:cNvSpPr txBox="1"/>
          <p:nvPr/>
        </p:nvSpPr>
        <p:spPr>
          <a:xfrm>
            <a:off x="868680" y="1874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Alta</a:t>
            </a:r>
            <a:endParaRPr lang="en-US" sz="1100" dirty="0"/>
          </a:p>
        </p:txBody>
      </p:sp>
      <p:sp>
        <p:nvSpPr>
          <p:cNvPr id="21" name="prob Media"/>
          <p:cNvSpPr txBox="1"/>
          <p:nvPr/>
        </p:nvSpPr>
        <p:spPr>
          <a:xfrm>
            <a:off x="868680" y="3154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Media</a:t>
            </a:r>
            <a:endParaRPr lang="en-US" sz="1100" dirty="0"/>
          </a:p>
        </p:txBody>
      </p:sp>
      <p:sp>
        <p:nvSpPr>
          <p:cNvPr id="22" name="prob Baja"/>
          <p:cNvSpPr txBox="1"/>
          <p:nvPr/>
        </p:nvSpPr>
        <p:spPr>
          <a:xfrm>
            <a:off x="868680" y="44348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Baja</a:t>
            </a:r>
            <a:endParaRPr lang="en-US" sz="1100" dirty="0"/>
          </a:p>
        </p:txBody>
      </p:sp>
      <p:sp>
        <p:nvSpPr>
          <p:cNvPr id="23" name="impacto Bajo"/>
          <p:cNvSpPr txBox="1"/>
          <p:nvPr/>
        </p:nvSpPr>
        <p:spPr>
          <a:xfrm>
            <a:off x="1371600" y="5276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Bajo</a:t>
            </a:r>
            <a:endParaRPr lang="en-US" sz="1100" dirty="0"/>
          </a:p>
        </p:txBody>
      </p:sp>
      <p:sp>
        <p:nvSpPr>
          <p:cNvPr id="24" name="impacto Medio"/>
          <p:cNvSpPr txBox="1"/>
          <p:nvPr/>
        </p:nvSpPr>
        <p:spPr>
          <a:xfrm>
            <a:off x="2971800" y="5276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Medio</a:t>
            </a:r>
            <a:endParaRPr lang="en-US" sz="1100" dirty="0"/>
          </a:p>
        </p:txBody>
      </p:sp>
      <p:sp>
        <p:nvSpPr>
          <p:cNvPr id="25" name="impacto Alto"/>
          <p:cNvSpPr txBox="1"/>
          <p:nvPr/>
        </p:nvSpPr>
        <p:spPr>
          <a:xfrm>
            <a:off x="4572000" y="52760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Alto</a:t>
            </a:r>
            <a:endParaRPr lang="en-US" sz="1100" dirty="0"/>
          </a:p>
        </p:txBody>
      </p:sp>
      <p:sp>
        <p:nvSpPr>
          <p:cNvPr id="26" name="eje impacto"/>
          <p:cNvSpPr txBox="1"/>
          <p:nvPr/>
        </p:nvSpPr>
        <p:spPr>
          <a:xfrm>
            <a:off x="1371600" y="55504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Impacto</a:t>
            </a:r>
            <a:endParaRPr lang="en-US" sz="1200" dirty="0"/>
          </a:p>
        </p:txBody>
      </p:sp>
      <p:sp>
        <p:nvSpPr>
          <p:cNvPr id="27" name="leyenda de riesgos"/>
          <p:cNvSpPr txBox="1"/>
          <p:nvPr/>
        </p:nvSpPr>
        <p:spPr>
          <a:xfrm>
            <a:off x="6537960" y="141732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R1  Una empresa ve candidatos de otra (aislamiento multiempresa)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R2  Robo de credenciales de portales en el servidor de scraping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R3  Videos y CVs enviados a la IA de terceros sin contrato ni consentimiento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R4  API de AWS expuesta saltándose Cloudflare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R5  Toma de cuentas de reclutadores (sin MFA, fuerza bruta)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R6  Scraping que incumple términos de LinkedIn / portales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R7  Archivos maliciosos o enormes en CVs y videos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R8  Datos personales en logs de Sentry / CloudWatch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R9  Inyección de instrucciones dentro de un CV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R10  Agotamiento del presupuesto de GPU (denial of wallet)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R11  Dependencias y contenedores vulnerables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R12  Sesgo del modelo en el puntaje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R13  Pérdida de datos por respaldo no probado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R14  Sesiones en Redis sin cifrar ni autenticar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R15  Falta de trazabilidad de decisiones (repudio)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Riesgos críticos y control propuesto</a:t>
            </a:r>
            <a:endParaRPr lang="en-US" sz="3000" dirty="0"/>
          </a:p>
        </p:txBody>
      </p:sp>
      <p:graphicFrame>
        <p:nvGraphicFramePr>
          <p:cNvPr id="16" name="tabla riesgos crític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103120"/>
                <a:gridCol w="3383280"/>
                <a:gridCol w="505663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Componente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Amenaza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Control propuesto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Backend API + Supabase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Una empresa accede a candidatos de otra cambiando un ID (IDOR)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tenant_id en todas las tablas, RLS en Supabase, verificación de pertenencia en cada endpoint y pruebas automáticas entre empresas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Servidor de scraping (VPS)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Robo de las credenciales de LinkedIn, Bumeran y Computrabajo de los clientes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Bóveda de secretos (AWS Secrets Manager), cifrado por empresa, VPS endurecido sin acceso entrante, rotación y alertas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IA en GPU (Modal / Runpod)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Videos y CVs salen a un tercero fuera de Perú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Contrato de encargo de tratamiento, URLs firmadas de corta vida, sin retención, región definida y consentimiento del postulante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Cloudflare → AWS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Atacantes llaman a la API directamente y evitan WAF y límites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Origen aceptando solo Cloudflare (Tunnel o IPs + mTLS) y grupo de seguridad cerrado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Autenticación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Toma de la cuenta de un reclutador o administrador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MFA obligatorio para administradores, bloqueo por intentos, rate limiting en login y sesiones cortas con rotación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Conectores a portales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Bloqueo de cuentas o demandas por scraping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APIs y programas de socios oficiales cuando existan; scraping solo con autorización escrita de la empresa cliente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Riesgos altos y medios por capa</a:t>
            </a:r>
            <a:endParaRPr lang="en-US" sz="3000" dirty="0"/>
          </a:p>
        </p:txBody>
      </p:sp>
      <p:sp>
        <p:nvSpPr>
          <p:cNvPr id="3" name="capa 1"/>
          <p:cNvSpPr/>
          <p:nvPr/>
        </p:nvSpPr>
        <p:spPr>
          <a:xfrm>
            <a:off x="548640" y="1325880"/>
            <a:ext cx="53492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82744">
                <a:alpha val="12000"/>
              </a:srgbClr>
            </a:outerShdw>
          </a:effectLst>
        </p:spPr>
      </p:sp>
      <p:sp>
        <p:nvSpPr>
          <p:cNvPr id="4" name="ícono Archivos (R2) y API fondo"/>
          <p:cNvSpPr/>
          <p:nvPr/>
        </p:nvSpPr>
        <p:spPr>
          <a:xfrm>
            <a:off x="822960" y="16002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ícono Archivos (R2) y AP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1736263"/>
            <a:ext cx="294803" cy="294803"/>
          </a:xfrm>
          <a:prstGeom prst="rect">
            <a:avLst/>
          </a:prstGeom>
        </p:spPr>
      </p:pic>
      <p:sp>
        <p:nvSpPr>
          <p:cNvPr id="6" name="título capa 1"/>
          <p:cNvSpPr txBox="1"/>
          <p:nvPr/>
        </p:nvSpPr>
        <p:spPr>
          <a:xfrm>
            <a:off x="1554480" y="167335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Archivos (R2) y API</a:t>
            </a:r>
            <a:endParaRPr lang="en-US" sz="1800" dirty="0"/>
          </a:p>
        </p:txBody>
      </p:sp>
      <p:sp>
        <p:nvSpPr>
          <p:cNvPr id="7" name="lista capa 1"/>
          <p:cNvSpPr txBox="1"/>
          <p:nvPr/>
        </p:nvSpPr>
        <p:spPr>
          <a:xfrm>
            <a:off x="822960" y="22860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R7: validar tipo y tamaño, antivirus (ClamAV) y bucket privado con URLs firmadas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Cabeceras CSP, HSTS y SameSite; React sin HTML crudo</a:t>
            </a:r>
            <a:endParaRPr lang="en-US" sz="1300" dirty="0"/>
          </a:p>
        </p:txBody>
      </p:sp>
      <p:sp>
        <p:nvSpPr>
          <p:cNvPr id="8" name="capa 2"/>
          <p:cNvSpPr/>
          <p:nvPr/>
        </p:nvSpPr>
        <p:spPr>
          <a:xfrm>
            <a:off x="6126480" y="1325880"/>
            <a:ext cx="53492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82744">
                <a:alpha val="12000"/>
              </a:srgbClr>
            </a:outerShdw>
          </a:effectLst>
        </p:spPr>
      </p:sp>
      <p:sp>
        <p:nvSpPr>
          <p:cNvPr id="9" name="ícono Servicio de IA fondo"/>
          <p:cNvSpPr/>
          <p:nvPr/>
        </p:nvSpPr>
        <p:spPr>
          <a:xfrm>
            <a:off x="6400800" y="16002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ícono Servicio de I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863" y="1736263"/>
            <a:ext cx="294803" cy="294803"/>
          </a:xfrm>
          <a:prstGeom prst="rect">
            <a:avLst/>
          </a:prstGeom>
        </p:spPr>
      </p:pic>
      <p:sp>
        <p:nvSpPr>
          <p:cNvPr id="11" name="título capa 2"/>
          <p:cNvSpPr txBox="1"/>
          <p:nvPr/>
        </p:nvSpPr>
        <p:spPr>
          <a:xfrm>
            <a:off x="7132320" y="167335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Servicio de IA</a:t>
            </a:r>
            <a:endParaRPr lang="en-US" sz="1800" dirty="0"/>
          </a:p>
        </p:txBody>
      </p:sp>
      <p:sp>
        <p:nvSpPr>
          <p:cNvPr id="12" name="lista capa 2"/>
          <p:cNvSpPr txBox="1"/>
          <p:nvPr/>
        </p:nvSpPr>
        <p:spPr>
          <a:xfrm>
            <a:off x="6400800" y="22860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R9: tratar el CV como dato, nunca como instrucción; salida estructurada y validada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R12: auditoría de sesgo por género y edad; la decisión es siempre humana</a:t>
            </a:r>
            <a:endParaRPr lang="en-US" sz="1300" dirty="0"/>
          </a:p>
        </p:txBody>
      </p:sp>
      <p:sp>
        <p:nvSpPr>
          <p:cNvPr id="13" name="capa 3"/>
          <p:cNvSpPr/>
          <p:nvPr/>
        </p:nvSpPr>
        <p:spPr>
          <a:xfrm>
            <a:off x="548640" y="3566160"/>
            <a:ext cx="53492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82744">
                <a:alpha val="12000"/>
              </a:srgbClr>
            </a:outerShdw>
          </a:effectLst>
        </p:spPr>
      </p:sp>
      <p:sp>
        <p:nvSpPr>
          <p:cNvPr id="14" name="ícono Workers, colas y caché fondo"/>
          <p:cNvSpPr/>
          <p:nvPr/>
        </p:nvSpPr>
        <p:spPr>
          <a:xfrm>
            <a:off x="822960" y="38404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ícono Workers, colas y caché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3976543"/>
            <a:ext cx="294803" cy="294803"/>
          </a:xfrm>
          <a:prstGeom prst="rect">
            <a:avLst/>
          </a:prstGeom>
        </p:spPr>
      </p:pic>
      <p:sp>
        <p:nvSpPr>
          <p:cNvPr id="16" name="título capa 3"/>
          <p:cNvSpPr txBox="1"/>
          <p:nvPr/>
        </p:nvSpPr>
        <p:spPr>
          <a:xfrm>
            <a:off x="1554480" y="39136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Workers, colas y caché</a:t>
            </a:r>
            <a:endParaRPr lang="en-US" sz="1800" dirty="0"/>
          </a:p>
        </p:txBody>
      </p:sp>
      <p:sp>
        <p:nvSpPr>
          <p:cNvPr id="17" name="lista capa 3"/>
          <p:cNvSpPr txBox="1"/>
          <p:nvPr/>
        </p:nvSpPr>
        <p:spPr>
          <a:xfrm>
            <a:off x="822960" y="45262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R10: cuotas de GPU por empresa, límites de tamaño y alertas de costo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R14: Redis privado con TLS y contraseña; SQS con cola de errores y IAM mínimo</a:t>
            </a:r>
            <a:endParaRPr lang="en-US" sz="1300" dirty="0"/>
          </a:p>
        </p:txBody>
      </p:sp>
      <p:sp>
        <p:nvSpPr>
          <p:cNvPr id="18" name="capa 4"/>
          <p:cNvSpPr/>
          <p:nvPr/>
        </p:nvSpPr>
        <p:spPr>
          <a:xfrm>
            <a:off x="6126480" y="3566160"/>
            <a:ext cx="53492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82744">
                <a:alpha val="12000"/>
              </a:srgbClr>
            </a:outerShdw>
          </a:effectLst>
        </p:spPr>
      </p:sp>
      <p:sp>
        <p:nvSpPr>
          <p:cNvPr id="19" name="ícono Operación y monitoreo fondo"/>
          <p:cNvSpPr/>
          <p:nvPr/>
        </p:nvSpPr>
        <p:spPr>
          <a:xfrm>
            <a:off x="6400800" y="38404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ícono Operación y monitore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863" y="3976543"/>
            <a:ext cx="294803" cy="294803"/>
          </a:xfrm>
          <a:prstGeom prst="rect">
            <a:avLst/>
          </a:prstGeom>
        </p:spPr>
      </p:pic>
      <p:sp>
        <p:nvSpPr>
          <p:cNvPr id="21" name="título capa 4"/>
          <p:cNvSpPr txBox="1"/>
          <p:nvPr/>
        </p:nvSpPr>
        <p:spPr>
          <a:xfrm>
            <a:off x="7132320" y="39136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Operación y monitoreo</a:t>
            </a:r>
            <a:endParaRPr lang="en-US" sz="1800" dirty="0"/>
          </a:p>
        </p:txBody>
      </p:sp>
      <p:sp>
        <p:nvSpPr>
          <p:cNvPr id="22" name="lista capa 4"/>
          <p:cNvSpPr txBox="1"/>
          <p:nvPr/>
        </p:nvSpPr>
        <p:spPr>
          <a:xfrm>
            <a:off x="6400800" y="45262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R8: borrar datos personales antes de enviar a Sentry; logs con retención corta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R11 y R13: Dependabot, escaneo de contenedores y restauraciones de respaldo probadas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Datos personales: el riesgo que define la confianza</a:t>
            </a:r>
            <a:endParaRPr lang="en-US" sz="3000" dirty="0"/>
          </a:p>
        </p:txBody>
      </p:sp>
      <p:sp>
        <p:nvSpPr>
          <p:cNvPr id="3" name="mensaje datos"/>
          <p:cNvSpPr txBox="1"/>
          <p:nvPr/>
        </p:nvSpPr>
        <p:spPr>
          <a:xfrm>
            <a:off x="548640" y="13258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Palomar Talent procesa CVs, voz y rostro de postulantes que no son nuestros clientes: la empresa contratante es responsable, Palomar es encargado del tratamiento.</a:t>
            </a:r>
            <a:endParaRPr lang="en-US" sz="1800" dirty="0"/>
          </a:p>
        </p:txBody>
      </p:sp>
      <p:pic>
        <p:nvPicPr>
          <p:cNvPr id="4" name="check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16352"/>
            <a:ext cx="329184" cy="329184"/>
          </a:xfrm>
          <a:prstGeom prst="rect">
            <a:avLst/>
          </a:prstGeom>
        </p:spPr>
      </p:pic>
      <p:sp>
        <p:nvSpPr>
          <p:cNvPr id="5" name="requisito ley 1"/>
          <p:cNvSpPr txBox="1"/>
          <p:nvPr/>
        </p:nvSpPr>
        <p:spPr>
          <a:xfrm>
            <a:off x="1005840" y="2788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Consentimiento informado</a:t>
            </a:r>
            <a:endParaRPr lang="en-US" sz="1500" dirty="0"/>
          </a:p>
        </p:txBody>
      </p:sp>
      <p:sp>
        <p:nvSpPr>
          <p:cNvPr id="6" name="detalle ley 1"/>
          <p:cNvSpPr txBox="1"/>
          <p:nvPr/>
        </p:nvSpPr>
        <p:spPr>
          <a:xfrm>
            <a:off x="1005840" y="31181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Antes de grabar la entrevista: qué se analiza (solo lo que dice) y qué no (rostro, emociones).</a:t>
            </a:r>
            <a:endParaRPr lang="en-US" sz="1200" dirty="0"/>
          </a:p>
        </p:txBody>
      </p:sp>
      <p:pic>
        <p:nvPicPr>
          <p:cNvPr id="7" name="check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93592"/>
            <a:ext cx="329184" cy="329184"/>
          </a:xfrm>
          <a:prstGeom prst="rect">
            <a:avLst/>
          </a:prstGeom>
        </p:spPr>
      </p:pic>
      <p:sp>
        <p:nvSpPr>
          <p:cNvPr id="8" name="requisito ley 2"/>
          <p:cNvSpPr txBox="1"/>
          <p:nvPr/>
        </p:nvSpPr>
        <p:spPr>
          <a:xfrm>
            <a:off x="1005840" y="3566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Transferencia internacional</a:t>
            </a:r>
            <a:endParaRPr lang="en-US" sz="1500" dirty="0"/>
          </a:p>
        </p:txBody>
      </p:sp>
      <p:sp>
        <p:nvSpPr>
          <p:cNvPr id="9" name="detalle ley 2"/>
          <p:cNvSpPr txBox="1"/>
          <p:nvPr/>
        </p:nvSpPr>
        <p:spPr>
          <a:xfrm>
            <a:off x="1005840" y="38953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AWS, Modal o Runpod fuera de Perú: cláusulas contractuales y aviso al postulante.</a:t>
            </a:r>
            <a:endParaRPr lang="en-US" sz="1200" dirty="0"/>
          </a:p>
        </p:txBody>
      </p:sp>
      <p:pic>
        <p:nvPicPr>
          <p:cNvPr id="10" name="check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70832"/>
            <a:ext cx="329184" cy="329184"/>
          </a:xfrm>
          <a:prstGeom prst="rect">
            <a:avLst/>
          </a:prstGeom>
        </p:spPr>
      </p:pic>
      <p:sp>
        <p:nvSpPr>
          <p:cNvPr id="11" name="requisito ley 3"/>
          <p:cNvSpPr txBox="1"/>
          <p:nvPr/>
        </p:nvSpPr>
        <p:spPr>
          <a:xfrm>
            <a:off x="1005840" y="4343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Retención y derechos ARCO</a:t>
            </a:r>
            <a:endParaRPr lang="en-US" sz="1500" dirty="0"/>
          </a:p>
        </p:txBody>
      </p:sp>
      <p:sp>
        <p:nvSpPr>
          <p:cNvPr id="12" name="detalle ley 3"/>
          <p:cNvSpPr txBox="1"/>
          <p:nvPr/>
        </p:nvSpPr>
        <p:spPr>
          <a:xfrm>
            <a:off x="1005840" y="46725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Borrar videos al cerrar la convocatoria; canal para acceso, rectificación, cancelación y oposición.</a:t>
            </a:r>
            <a:endParaRPr lang="en-US" sz="1200" dirty="0"/>
          </a:p>
        </p:txBody>
      </p:sp>
      <p:pic>
        <p:nvPicPr>
          <p:cNvPr id="13" name="check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148072"/>
            <a:ext cx="329184" cy="329184"/>
          </a:xfrm>
          <a:prstGeom prst="rect">
            <a:avLst/>
          </a:prstGeom>
        </p:spPr>
      </p:pic>
      <p:sp>
        <p:nvSpPr>
          <p:cNvPr id="14" name="requisito ley 4"/>
          <p:cNvSpPr txBox="1"/>
          <p:nvPr/>
        </p:nvSpPr>
        <p:spPr>
          <a:xfrm>
            <a:off x="1005840" y="5120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Registro y seguridad</a:t>
            </a:r>
            <a:endParaRPr lang="en-US" sz="1500" dirty="0"/>
          </a:p>
        </p:txBody>
      </p:sp>
      <p:sp>
        <p:nvSpPr>
          <p:cNvPr id="15" name="detalle ley 4"/>
          <p:cNvSpPr txBox="1"/>
          <p:nvPr/>
        </p:nvSpPr>
        <p:spPr>
          <a:xfrm>
            <a:off x="1005840" y="54498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Inscribir los bancos de datos ante la autoridad y documentar las medidas de seguridad.</a:t>
            </a:r>
            <a:endParaRPr lang="en-US" sz="1200" dirty="0"/>
          </a:p>
        </p:txBody>
      </p:sp>
      <p:sp>
        <p:nvSpPr>
          <p:cNvPr id="16" name="buenas prácticas del piloto"/>
          <p:cNvSpPr/>
          <p:nvPr/>
        </p:nvSpPr>
        <p:spPr>
          <a:xfrm>
            <a:off x="6172200" y="1325880"/>
            <a:ext cx="5468112" cy="4572000"/>
          </a:xfrm>
          <a:prstGeom prst="roundRect">
            <a:avLst>
              <a:gd name="adj" fmla="val 1600"/>
            </a:avLst>
          </a:prstGeom>
          <a:solidFill>
            <a:srgbClr val="E9F1F3"/>
          </a:solidFill>
          <a:ln w="12700">
            <a:solidFill>
              <a:srgbClr val="E9F1F3"/>
            </a:solidFill>
            <a:prstDash val="solid"/>
          </a:ln>
          <a:effectLst>
            <a:outerShdw sx="100000" sy="100000" kx="0" ky="0" algn="bl" rotWithShape="0" blurRad="76200" dist="25400" dir="5400000">
              <a:srgbClr val="182744">
                <a:alpha val="12000"/>
              </a:srgbClr>
            </a:outerShdw>
          </a:effectLst>
        </p:spPr>
      </p:sp>
      <p:sp>
        <p:nvSpPr>
          <p:cNvPr id="17" name="título piloto"/>
          <p:cNvSpPr txBox="1"/>
          <p:nvPr/>
        </p:nvSpPr>
        <p:spPr>
          <a:xfrm>
            <a:off x="649224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Lo que el piloto ya hace bien</a:t>
            </a:r>
            <a:endParaRPr lang="en-US" sz="1800" dirty="0"/>
          </a:p>
        </p:txBody>
      </p:sp>
      <p:sp>
        <p:nvSpPr>
          <p:cNvPr id="18" name="lista piloto"/>
          <p:cNvSpPr txBox="1"/>
          <p:nvPr/>
        </p:nvSpPr>
        <p:spPr>
          <a:xfrm>
            <a:off x="6492240" y="214884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CVs y videos se procesan en el navegador: no se suben a ningún servidor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demo usa postulantes ficticios; los avisos reales solo aportan requisitos públicos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video de una persona real se excluyó del repositorio público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se analiza rostro, gestos, apariencia ni emociones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decisión final siempre la registra una persona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Línea base: verificación del prototipo actual</a:t>
            </a:r>
            <a:endParaRPr lang="en-US" sz="3000" dirty="0"/>
          </a:p>
        </p:txBody>
      </p:sp>
      <p:graphicFrame>
        <p:nvGraphicFramePr>
          <p:cNvPr id="3" name="gráfico npm audit" descr=""/>
          <p:cNvGraphicFramePr/>
          <p:nvPr/>
        </p:nvGraphicFramePr>
        <p:xfrm>
          <a:off x="548640" y="1325880"/>
          <a:ext cx="4206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stado Dependencias"/>
          <p:cNvSpPr/>
          <p:nvPr/>
        </p:nvSpPr>
        <p:spPr>
          <a:xfrm>
            <a:off x="5120640" y="1444752"/>
            <a:ext cx="256032" cy="25603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ítulo base 1"/>
          <p:cNvSpPr txBox="1"/>
          <p:nvPr/>
        </p:nvSpPr>
        <p:spPr>
          <a:xfrm>
            <a:off x="5532120" y="13716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Dependencias</a:t>
            </a:r>
            <a:endParaRPr lang="en-US" sz="1600" dirty="0"/>
          </a:p>
        </p:txBody>
      </p:sp>
      <p:sp>
        <p:nvSpPr>
          <p:cNvPr id="6" name="detalle base 1"/>
          <p:cNvSpPr txBox="1"/>
          <p:nvPr/>
        </p:nvSpPr>
        <p:spPr>
          <a:xfrm>
            <a:off x="5532120" y="173736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Las 2 críticas (vitest, tinypool) y vite son solo de desarrollo; sharp y onnxruntime-node vienen de transformers.js para Node y no llegan al navegador. Igual se deben actualizar.</a:t>
            </a:r>
            <a:endParaRPr lang="en-US" sz="1300" dirty="0"/>
          </a:p>
        </p:txBody>
      </p:sp>
      <p:sp>
        <p:nvSpPr>
          <p:cNvPr id="7" name="estado Cabeceras HTTP"/>
          <p:cNvSpPr/>
          <p:nvPr/>
        </p:nvSpPr>
        <p:spPr>
          <a:xfrm>
            <a:off x="5120640" y="2542032"/>
            <a:ext cx="256032" cy="25603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ítulo base 2"/>
          <p:cNvSpPr txBox="1"/>
          <p:nvPr/>
        </p:nvSpPr>
        <p:spPr>
          <a:xfrm>
            <a:off x="5532120" y="24688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Cabeceras HTTP</a:t>
            </a:r>
            <a:endParaRPr lang="en-US" sz="1600" dirty="0"/>
          </a:p>
        </p:txBody>
      </p:sp>
      <p:sp>
        <p:nvSpPr>
          <p:cNvPr id="9" name="detalle base 2"/>
          <p:cNvSpPr txBox="1"/>
          <p:nvPr/>
        </p:nvSpPr>
        <p:spPr>
          <a:xfrm>
            <a:off x="5532120" y="283464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Sin Content-Security-Policy ni HSTS propios: configurarlos en vercel.json o en Cloudflare.</a:t>
            </a:r>
            <a:endParaRPr lang="en-US" sz="1300" dirty="0"/>
          </a:p>
        </p:txBody>
      </p:sp>
      <p:sp>
        <p:nvSpPr>
          <p:cNvPr id="10" name="estado Datos en el navegador"/>
          <p:cNvSpPr/>
          <p:nvPr/>
        </p:nvSpPr>
        <p:spPr>
          <a:xfrm>
            <a:off x="5120640" y="3639312"/>
            <a:ext cx="256032" cy="25603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ítulo base 3"/>
          <p:cNvSpPr txBox="1"/>
          <p:nvPr/>
        </p:nvSpPr>
        <p:spPr>
          <a:xfrm>
            <a:off x="5532120" y="35661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Datos en el navegador</a:t>
            </a:r>
            <a:endParaRPr lang="en-US" sz="1600" dirty="0"/>
          </a:p>
        </p:txBody>
      </p:sp>
      <p:sp>
        <p:nvSpPr>
          <p:cNvPr id="12" name="detalle base 3"/>
          <p:cNvSpPr txBox="1"/>
          <p:nvPr/>
        </p:nvSpPr>
        <p:spPr>
          <a:xfrm>
            <a:off x="5532120" y="393192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IndexedDB sin cifrar y sin inicio de sesión: aceptable para la demo, no para clientes reales.</a:t>
            </a:r>
            <a:endParaRPr lang="en-US" sz="1300" dirty="0"/>
          </a:p>
        </p:txBody>
      </p:sp>
      <p:sp>
        <p:nvSpPr>
          <p:cNvPr id="13" name="estado Modelos de IA"/>
          <p:cNvSpPr/>
          <p:nvPr/>
        </p:nvSpPr>
        <p:spPr>
          <a:xfrm>
            <a:off x="5120640" y="4736592"/>
            <a:ext cx="256032" cy="25603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ítulo base 4"/>
          <p:cNvSpPr txBox="1"/>
          <p:nvPr/>
        </p:nvSpPr>
        <p:spPr>
          <a:xfrm>
            <a:off x="5532120" y="46634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Modelos de IA</a:t>
            </a:r>
            <a:endParaRPr lang="en-US" sz="1600" dirty="0"/>
          </a:p>
        </p:txBody>
      </p:sp>
      <p:sp>
        <p:nvSpPr>
          <p:cNvPr id="15" name="detalle base 4"/>
          <p:cNvSpPr txBox="1"/>
          <p:nvPr/>
        </p:nvSpPr>
        <p:spPr>
          <a:xfrm>
            <a:off x="5532120" y="502920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Descargados desde Hugging Face sin fijar versión: fijar la revisión y su integridad.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Oportunidades de mejora de seguridad</a:t>
            </a:r>
            <a:endParaRPr lang="en-US" sz="3000" dirty="0"/>
          </a:p>
        </p:txBody>
      </p:sp>
      <p:sp>
        <p:nvSpPr>
          <p:cNvPr id="3" name="ruta 1"/>
          <p:cNvSpPr/>
          <p:nvPr/>
        </p:nvSpPr>
        <p:spPr>
          <a:xfrm>
            <a:off x="548640" y="1371600"/>
            <a:ext cx="3474720" cy="35204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82744">
                <a:alpha val="12000"/>
              </a:srgbClr>
            </a:outerShdw>
          </a:effectLst>
        </p:spPr>
      </p:sp>
      <p:sp>
        <p:nvSpPr>
          <p:cNvPr id="4" name="plazo seguridad 1"/>
          <p:cNvSpPr/>
          <p:nvPr/>
        </p:nvSpPr>
        <p:spPr>
          <a:xfrm>
            <a:off x="822960" y="1645920"/>
            <a:ext cx="2743200" cy="384048"/>
          </a:xfrm>
          <a:prstGeom prst="roundRect">
            <a:avLst>
              <a:gd name="adj" fmla="val 2381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o plazo seguridad 1"/>
          <p:cNvSpPr txBox="1"/>
          <p:nvPr/>
        </p:nvSpPr>
        <p:spPr>
          <a:xfrm>
            <a:off x="822960" y="1645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Antes del primer cliente</a:t>
            </a:r>
            <a:endParaRPr lang="en-US" sz="1300" dirty="0"/>
          </a:p>
        </p:txBody>
      </p:sp>
      <p:sp>
        <p:nvSpPr>
          <p:cNvPr id="6" name="lista seguridad 1"/>
          <p:cNvSpPr txBox="1"/>
          <p:nvPr/>
        </p:nvSpPr>
        <p:spPr>
          <a:xfrm>
            <a:off x="822960" y="2240280"/>
            <a:ext cx="2971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Aislamiento multiempresa con RLS y pruebas (R1)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Bóveda de secretos para credenciales de portales (R2)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Contrato de datos con el proveedor de IA y consentimiento (R3)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API solo detrás de Cloudflare y MFA (R4, R5)</a:t>
            </a:r>
            <a:endParaRPr lang="en-US" sz="1400" dirty="0"/>
          </a:p>
        </p:txBody>
      </p:sp>
      <p:sp>
        <p:nvSpPr>
          <p:cNvPr id="7" name="ruta 2"/>
          <p:cNvSpPr/>
          <p:nvPr/>
        </p:nvSpPr>
        <p:spPr>
          <a:xfrm>
            <a:off x="4297680" y="1371600"/>
            <a:ext cx="3474720" cy="35204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82744">
                <a:alpha val="12000"/>
              </a:srgbClr>
            </a:outerShdw>
          </a:effectLst>
        </p:spPr>
      </p:sp>
      <p:sp>
        <p:nvSpPr>
          <p:cNvPr id="8" name="plazo seguridad 2"/>
          <p:cNvSpPr/>
          <p:nvPr/>
        </p:nvSpPr>
        <p:spPr>
          <a:xfrm>
            <a:off x="4572000" y="1645920"/>
            <a:ext cx="2743200" cy="384048"/>
          </a:xfrm>
          <a:prstGeom prst="roundRect">
            <a:avLst>
              <a:gd name="adj" fmla="val 2381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o plazo seguridad 2"/>
          <p:cNvSpPr txBox="1"/>
          <p:nvPr/>
        </p:nvSpPr>
        <p:spPr>
          <a:xfrm>
            <a:off x="4572000" y="1645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Primeros 3 meses</a:t>
            </a:r>
            <a:endParaRPr lang="en-US" sz="1300" dirty="0"/>
          </a:p>
        </p:txBody>
      </p:sp>
      <p:sp>
        <p:nvSpPr>
          <p:cNvPr id="10" name="lista seguridad 2"/>
          <p:cNvSpPr txBox="1"/>
          <p:nvPr/>
        </p:nvSpPr>
        <p:spPr>
          <a:xfrm>
            <a:off x="4572000" y="2240280"/>
            <a:ext cx="2971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Antivirus y límites para CVs y videos (R7)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Cuotas de GPU y alertas de costo (R10)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Limpieza de datos personales en logs (R8)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Pentest externo y CSP/HSTS en producción</a:t>
            </a:r>
            <a:endParaRPr lang="en-US" sz="1400" dirty="0"/>
          </a:p>
        </p:txBody>
      </p:sp>
      <p:sp>
        <p:nvSpPr>
          <p:cNvPr id="11" name="ruta 3"/>
          <p:cNvSpPr/>
          <p:nvPr/>
        </p:nvSpPr>
        <p:spPr>
          <a:xfrm>
            <a:off x="8046720" y="1371600"/>
            <a:ext cx="3474720" cy="35204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82744">
                <a:alpha val="12000"/>
              </a:srgbClr>
            </a:outerShdw>
          </a:effectLst>
        </p:spPr>
      </p:sp>
      <p:sp>
        <p:nvSpPr>
          <p:cNvPr id="12" name="plazo seguridad 3"/>
          <p:cNvSpPr/>
          <p:nvPr/>
        </p:nvSpPr>
        <p:spPr>
          <a:xfrm>
            <a:off x="8321040" y="1645920"/>
            <a:ext cx="274320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o plazo seguridad 3"/>
          <p:cNvSpPr txBox="1"/>
          <p:nvPr/>
        </p:nvSpPr>
        <p:spPr>
          <a:xfrm>
            <a:off x="8321040" y="1645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Continuo</a:t>
            </a:r>
            <a:endParaRPr lang="en-US" sz="1300" dirty="0"/>
          </a:p>
        </p:txBody>
      </p:sp>
      <p:sp>
        <p:nvSpPr>
          <p:cNvPr id="14" name="lista seguridad 3"/>
          <p:cNvSpPr txBox="1"/>
          <p:nvPr/>
        </p:nvSpPr>
        <p:spPr>
          <a:xfrm>
            <a:off x="8321040" y="2240280"/>
            <a:ext cx="2971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Dependabot y escaneo de contenedores (R11)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Restauración de respaldos cada trimestre (R13)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Auditoría de sesgo del puntaje (R12)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Bitácora de quién decidió qué y cuándo (R15)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Conclusiones y próximos pasos</a:t>
            </a:r>
            <a:endParaRPr lang="en-US" sz="4000" dirty="0"/>
          </a:p>
        </p:txBody>
      </p:sp>
      <p:sp>
        <p:nvSpPr>
          <p:cNvPr id="3" name="conclusiones"/>
          <p:cNvSpPr txBox="1"/>
          <p:nvPr/>
        </p:nvSpPr>
        <p:spPr>
          <a:xfrm>
            <a:off x="548640" y="3657600"/>
            <a:ext cx="7863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El piloto cumple el flujo completo y explica cada puntaje con evidencia.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La deuda de UX es pequeña y rápida: contraste, estructura y avisos de descarga.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Antes de producción: cerrar los 6 riesgos críticos, sobre todo datos personales y aislamiento entre empresas.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Siguiente paso: pruebas con 5 reclutadores reales y un pentest externo.</a:t>
            </a:r>
            <a:endParaRPr lang="en-US" sz="1700" dirty="0"/>
          </a:p>
        </p:txBody>
      </p:sp>
      <p:pic>
        <p:nvPicPr>
          <p:cNvPr id="4" name="logo cierre" descr="C:\Users\aaron\Documents\PROYECTO GTH\Palomar_Talent\public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011680"/>
            <a:ext cx="2560320" cy="256032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6118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lomar Talent">
  <a:themeElements>
    <a:clrScheme name="Palomar Talent">
      <a:dk1>
        <a:srgbClr val="16223A"/>
      </a:dk1>
      <a:lt1>
        <a:srgbClr val="FFFFFF"/>
      </a:lt1>
      <a:dk2>
        <a:srgbClr val="182744"/>
      </a:dk2>
      <a:lt2>
        <a:srgbClr val="F3F5F8"/>
      </a:lt2>
      <a:accent1>
        <a:srgbClr val="2E6F7B"/>
      </a:accent1>
      <a:accent2>
        <a:srgbClr val="6FA4AC"/>
      </a:accent2>
      <a:accent3>
        <a:srgbClr val="2F5F8F"/>
      </a:accent3>
      <a:accent4>
        <a:srgbClr val="3F7D5C"/>
      </a:accent4>
      <a:accent5>
        <a:srgbClr val="B42318"/>
      </a:accent5>
      <a:accent6>
        <a:srgbClr val="C77D12"/>
      </a:accent6>
      <a:hlink>
        <a:srgbClr val="2E6F7B"/>
      </a:hlink>
      <a:folHlink>
        <a:srgbClr val="24375E"/>
      </a:folHlink>
    </a:clrScheme>
    <a:fontScheme name="Palomar Tale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Palomar Talent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Palomar Talent · Pruebas de UX y seguridad</dc:title>
  <dc:subject>PptxGenJS Presentation</dc:subject>
  <dc:creator>Palomar Talent</dc:creator>
  <cp:lastModifiedBy>Palomar Talent</cp:lastModifiedBy>
  <cp:revision>1</cp:revision>
  <dcterms:created xsi:type="dcterms:W3CDTF">2026-10-20T22:18:17Z</dcterms:created>
  <dcterms:modified xsi:type="dcterms:W3CDTF">2026-10-20T22:18:17Z</dcterms:modified>
</cp:coreProperties>
</file>